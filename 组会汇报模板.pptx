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70" r:id="rId32"/>
    <p:sldId id="27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23B5D"/>
            </a:solidFill>
            <a:ln>
              <a:solidFill>
                <a:srgbClr val="123B5D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5F8AA8"/>
              </a:solidFill>
              <a:ln>
                <a:solidFill>
                  <a:srgbClr val="5F8AA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4F-466B-901A-819F91BE369E}"/>
              </c:ext>
            </c:extLst>
          </c:dPt>
          <c:dPt>
            <c:idx val="1"/>
            <c:invertIfNegative val="0"/>
            <c:bubble3D val="0"/>
            <c:spPr>
              <a:solidFill>
                <a:srgbClr val="5F8AA8"/>
              </a:solidFill>
              <a:ln>
                <a:solidFill>
                  <a:srgbClr val="5F8AA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4F-466B-901A-819F91BE369E}"/>
              </c:ext>
            </c:extLst>
          </c:dPt>
          <c:dPt>
            <c:idx val="2"/>
            <c:invertIfNegative val="0"/>
            <c:bubble3D val="0"/>
            <c:spPr>
              <a:solidFill>
                <a:srgbClr val="5F8AA8"/>
              </a:solidFill>
              <a:ln>
                <a:solidFill>
                  <a:srgbClr val="5F8AA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4F-466B-901A-819F91BE369E}"/>
              </c:ext>
            </c:extLst>
          </c:dPt>
          <c:dPt>
            <c:idx val="3"/>
            <c:invertIfNegative val="0"/>
            <c:bubble3D val="0"/>
            <c:spPr>
              <a:solidFill>
                <a:srgbClr val="5F8AA8"/>
              </a:solidFill>
              <a:ln>
                <a:solidFill>
                  <a:srgbClr val="5F8AA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4F-466B-901A-819F91BE369E}"/>
              </c:ext>
            </c:extLst>
          </c:dPt>
          <c:dPt>
            <c:idx val="4"/>
            <c:invertIfNegative val="0"/>
            <c:bubble3D val="0"/>
            <c:spPr>
              <a:solidFill>
                <a:srgbClr val="D8A546"/>
              </a:solidFill>
              <a:ln>
                <a:solidFill>
                  <a:srgbClr val="D8A54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4F-466B-901A-819F91BE36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7212B"/>
                    </a:solidFill>
                    <a:latin typeface="Arial"/>
                    <a:ea typeface="Microsoft Ya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Config A</c:v>
                </c:pt>
                <c:pt idx="1">
                  <c:v>Config B</c:v>
                </c:pt>
                <c:pt idx="2">
                  <c:v>Config C</c:v>
                </c:pt>
                <c:pt idx="3">
                  <c:v>Config D</c:v>
                </c:pt>
                <c:pt idx="4">
                  <c:v>Proposed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70</c:v>
                </c:pt>
                <c:pt idx="2">
                  <c:v>78</c:v>
                </c:pt>
                <c:pt idx="3">
                  <c:v>86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4F-466B-901A-819F91BE3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7A8792"/>
            </a:solidFill>
            <a:round/>
          </a:ln>
        </c:spPr>
        <c:txPr>
          <a:bodyPr/>
          <a:lstStyle/>
          <a:p>
            <a:pPr>
              <a:defRPr sz="1200">
                <a:solidFill>
                  <a:srgbClr val="53616D"/>
                </a:solidFill>
                <a:latin typeface="Arial"/>
                <a:ea typeface="Microsoft YaHe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FE5EA"/>
              </a:solidFill>
              <a:round/>
            </a:ln>
          </c:spPr>
        </c:majorGridlines>
        <c:title>
          <c:tx>
            <c:rich>
              <a:bodyPr/>
              <a:lstStyle/>
              <a:p>
                <a:r>
                  <a:rPr lang="en-US" sz="1200">
                    <a:solidFill>
                      <a:srgbClr val="53616D"/>
                    </a:solidFill>
                    <a:latin typeface="Arial"/>
                    <a:ea typeface="Microsoft YaHei"/>
                  </a:rPr>
                  <a:t>Score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7A8792"/>
            </a:solidFill>
            <a:round/>
          </a:ln>
        </c:spPr>
        <c:txPr>
          <a:bodyPr/>
          <a:lstStyle/>
          <a:p>
            <a:pPr>
              <a:defRPr sz="1200">
                <a:solidFill>
                  <a:srgbClr val="53616D"/>
                </a:solidFill>
                <a:latin typeface="Arial"/>
                <a:ea typeface="Microsoft YaHei"/>
              </a:defRPr>
            </a:pPr>
            <a:endParaRPr lang="en-US"/>
          </a:p>
        </c:txPr>
        <c:crossAx val="2068027336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200">
          <a:solidFill>
            <a:srgbClr val="53616D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本页用于说明为什么现在值得研究。请替换趋势、关键规模数字和证据来源，并确保横纵轴、单位和统计口径完整。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本页用于把相关工作按共同维度放在同一矩阵中，而不是逐篇罗列。请保留本文定位列，并在脚注中给出文献编号和检索范围。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本页用于把研究问题、可检验假设与适用边界连接起来。每个假设应对应可观测变量和判定标准，避免使用不可证伪的表述。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本页用于完整记录数据版本、来源、许可、划分、缺失和偏差。请把分布图改为真实数据，并明确缺失值、异常值与预处理规则。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本页用于表达输入、表示、核心机制与输出之间的层级关系。每个模块保留一句职责说明，并用金色描边标出真正的创新模块。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本页用于记录能够真正复现实验的最小信息集。硬件、软件、数据协议、随机种子、评价协议和控制变量都应完整，并与代码仓库版本对应。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本页用于同时呈现核心指标、基线差值、置信区间、效应量和显著性。请明确误差定义与独立重复次数，并用精确 </a:t>
            </a:r>
            <a:r>
              <a:rPr lang="en-US" altLang="zh-CN"/>
              <a:t>p </a:t>
            </a:r>
            <a:r>
              <a:rPr lang="zh-CN" altLang="en-US"/>
              <a:t>值替代只写星号。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本页用于观察收敛、泛化差距和最佳检查点。置信带应注明是标准差、标准误还是置信区间，并与均值曲线使用同一重复实验集合。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本页用于定位分类错误集中在哪些类别。请明确矩阵为原始计数还是按真实类别行归一化，并同步更新右侧每类精确率、召回率和 </a:t>
            </a:r>
            <a:r>
              <a:rPr lang="en-US" altLang="zh-CN"/>
              <a:t>F1</a:t>
            </a:r>
            <a:r>
              <a:rPr lang="zh-CN" altLang="en-US"/>
              <a:t>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本页用于同时回答组件贡献和超参数稳定区间。消融表的变化量必须相对同一固定基线，热力图缺失值显示横线而不是零。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本页适用于访谈、观察、文本和案例材料。请从原始材料开始，完整保留编码、子主题、主题与解释之间的可追溯关系，并完成匿名化。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本页用于从典型失败案例追溯错误类型、频率、严重度、根因和恢复动作。</a:t>
            </a:r>
            <a:r>
              <a:rPr lang="en-US" altLang="zh-CN"/>
              <a:t>Pareto </a:t>
            </a:r>
            <a:r>
              <a:rPr lang="zh-CN" altLang="en-US"/>
              <a:t>图应按频率降序，并说明累计贡献是否支持优先治理。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本页用于呈现效应量与置信区间。请核对每条置信区间、零效应线、右侧数值和精确 </a:t>
            </a:r>
            <a:r>
              <a:rPr lang="en-US" altLang="zh-CN"/>
              <a:t>p </a:t>
            </a:r>
            <a:r>
              <a:rPr lang="zh-CN" altLang="en-US"/>
              <a:t>或 </a:t>
            </a:r>
            <a:r>
              <a:rPr lang="en-US" altLang="zh-CN"/>
              <a:t>q </a:t>
            </a:r>
            <a:r>
              <a:rPr lang="zh-CN" altLang="en-US"/>
              <a:t>值，并注明多重检验修正。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本页用于同时比较效果、时延和模型规模。横纵轴方向、气泡面积含义、硬件条件与 </a:t>
            </a:r>
            <a:r>
              <a:rPr lang="en-US" altLang="zh-CN"/>
              <a:t>Pareto </a:t>
            </a:r>
            <a:r>
              <a:rPr lang="zh-CN" altLang="en-US"/>
              <a:t>前沿都应明确，避免用半径线性夸大规模差异。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本页用于把任务周期、依赖、里程碑、负责人、状态和风险放在同一视图中。请保持状态定义统一，并在每次组会更新下次检查点。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本页用于说明演示系统如何交互，以及最终需要交付哪些可复现产物。请替换模块名称、接口动作、监控和回滚方式，并生成真实的仓库或演示二维码。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rcRect l="1365" r="1365"/>
            <a:stretch>
              <a:fillRect/>
            </a:stretch>
          </p:blipFill>
          <p:spPr>
            <a:xfrm>
              <a:off x="0" y="0"/>
              <a:ext cx="12192000" cy="5334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5334000"/>
            </a:xfrm>
            <a:prstGeom prst="rect">
              <a:avLst/>
            </a:prstGeom>
            <a:solidFill>
              <a:srgbClr val="024282">
                <a:alpha val="78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5334000"/>
              <a:ext cx="12192000" cy="1524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581400" y="438150"/>
            <a:ext cx="5029200" cy="1038225"/>
            <a:chOff x="3581400" y="438150"/>
            <a:chExt cx="5029200" cy="1038225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450" y="438150"/>
              <a:ext cx="742950" cy="74295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000" y="552450"/>
              <a:ext cx="2495550" cy="866775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3581400" y="14668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FFFFFF">
                  <a:alpha val="54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134057" y="2183130"/>
            <a:ext cx="7923886" cy="1807845"/>
            <a:chOff x="2134057" y="2183130"/>
            <a:chExt cx="7923886" cy="1807845"/>
          </a:xfrm>
        </p:grpSpPr>
        <p:sp>
          <p:nvSpPr>
            <p:cNvPr id="10" name="TextBox 10"/>
            <p:cNvSpPr txBox="1"/>
            <p:nvPr/>
          </p:nvSpPr>
          <p:spPr>
            <a:xfrm>
              <a:off x="2134057" y="2183130"/>
              <a:ext cx="792388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研究标题置于此处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5635" y="3246120"/>
              <a:ext cx="72607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EEF2F6"/>
                  </a:solidFill>
                  <a:latin typeface="Georgia"/>
                  <a:ea typeface="Georgia"/>
                  <a:cs typeface="Georgia"/>
                </a:rPr>
                <a:t>Subtitle / Research Question / Paper Title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14650" y="3981450"/>
              <a:ext cx="6362700" cy="9525"/>
            </a:xfrm>
            <a:custGeom>
              <a:avLst/>
              <a:gdLst/>
              <a:ahLst/>
              <a:cxnLst/>
              <a:rect l="l" t="t" r="r" b="b"/>
              <a:pathLst>
                <a:path w="6362700" h="9525">
                  <a:moveTo>
                    <a:pt x="0" y="0"/>
                  </a:moveTo>
                  <a:lnTo>
                    <a:pt x="6362700" y="0"/>
                  </a:lnTo>
                </a:path>
              </a:pathLst>
            </a:custGeom>
            <a:noFill/>
            <a:ln w="38100">
              <a:solidFill>
                <a:srgbClr val="D8A54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458893" y="4540568"/>
            <a:ext cx="5274213" cy="264033"/>
            <a:chOff x="3458893" y="4540568"/>
            <a:chExt cx="5274213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3458893" y="4540568"/>
              <a:ext cx="5274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spc="225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DALIAN UNIVERSITY · ACADEMIC LAB MEETING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9150" y="5753100"/>
            <a:ext cx="10553700" cy="476250"/>
            <a:chOff x="819150" y="5753100"/>
            <a:chExt cx="10553700" cy="476250"/>
          </a:xfrm>
        </p:grpSpPr>
        <p:sp>
          <p:nvSpPr>
            <p:cNvPr id="16" name="Rectangle 16"/>
            <p:cNvSpPr/>
            <p:nvPr/>
          </p:nvSpPr>
          <p:spPr>
            <a:xfrm>
              <a:off x="819150" y="5753100"/>
              <a:ext cx="3143250" cy="476250"/>
            </a:xfrm>
            <a:prstGeom prst="rect">
              <a:avLst/>
            </a:prstGeom>
            <a:solidFill>
              <a:srgbClr val="02428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24375" y="5753100"/>
              <a:ext cx="3143250" cy="47625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229600" y="5753100"/>
              <a:ext cx="3143250" cy="476250"/>
            </a:xfrm>
            <a:prstGeom prst="rect">
              <a:avLst/>
            </a:prstGeom>
            <a:solidFill>
              <a:srgbClr val="02428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54683" y="58731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汇报人：姓名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99418" y="5873115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课题组 / 指导老师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36787" y="5873115"/>
              <a:ext cx="15288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YYYY.MM.DD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52450" y="323850"/>
            <a:ext cx="11029950" cy="1000125"/>
            <a:chOff x="552450" y="323850"/>
            <a:chExt cx="11029950" cy="1000125"/>
          </a:xfrm>
        </p:grpSpPr>
        <p:sp>
          <p:nvSpPr>
            <p:cNvPr id="2" name="Freeform 2"/>
            <p:cNvSpPr/>
            <p:nvPr/>
          </p:nvSpPr>
          <p:spPr>
            <a:xfrm>
              <a:off x="552450" y="4191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28650" y="4762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6998" y="402908"/>
              <a:ext cx="414935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汇报结构 / Agenda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6142" y="9210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建议将组会叙事压缩为四个可复用研究阶段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323850"/>
              <a:ext cx="514350" cy="514350"/>
            </a:xfrm>
            <a:prstGeom prst="rect">
              <a:avLst/>
            </a:prstGeom>
          </p:spPr>
        </p:pic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409575"/>
              <a:ext cx="1543050" cy="533400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1314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00150" y="1847850"/>
            <a:ext cx="9525" cy="3924300"/>
            <a:chOff x="1200150" y="1847850"/>
            <a:chExt cx="9525" cy="3924300"/>
          </a:xfrm>
        </p:grpSpPr>
        <p:sp>
          <p:nvSpPr>
            <p:cNvPr id="10" name="Line 10"/>
            <p:cNvSpPr/>
            <p:nvPr/>
          </p:nvSpPr>
          <p:spPr>
            <a:xfrm>
              <a:off x="1200150" y="1847850"/>
              <a:ext cx="9525" cy="3924300"/>
            </a:xfrm>
            <a:custGeom>
              <a:avLst/>
              <a:gdLst/>
              <a:ahLst/>
              <a:cxnLst/>
              <a:rect l="l" t="t" r="r" b="b"/>
              <a:pathLst>
                <a:path w="9525" h="3924300">
                  <a:moveTo>
                    <a:pt x="0" y="0"/>
                  </a:moveTo>
                  <a:lnTo>
                    <a:pt x="0" y="3924300"/>
                  </a:lnTo>
                </a:path>
              </a:pathLst>
            </a:custGeom>
            <a:noFill/>
            <a:ln w="19050">
              <a:solidFill>
                <a:srgbClr val="5F8AA8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42975" y="1849755"/>
            <a:ext cx="10429875" cy="649796"/>
            <a:chOff x="942975" y="1849755"/>
            <a:chExt cx="10429875" cy="649796"/>
          </a:xfrm>
        </p:grpSpPr>
        <p:sp>
          <p:nvSpPr>
            <p:cNvPr id="12" name="Ellipse 12"/>
            <p:cNvSpPr/>
            <p:nvPr/>
          </p:nvSpPr>
          <p:spPr>
            <a:xfrm>
              <a:off x="942975" y="1876425"/>
              <a:ext cx="514350" cy="514350"/>
            </a:xfrm>
            <a:prstGeom prst="ellipse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9315" y="20478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9082" y="1849755"/>
              <a:ext cx="28440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研究背景与问题定义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2892" y="2235518"/>
              <a:ext cx="31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Context · Gap · Research Question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306050" y="1924050"/>
              <a:ext cx="1066800" cy="323850"/>
            </a:xfrm>
            <a:prstGeom prst="roundRect">
              <a:avLst>
                <a:gd name="adj" fmla="val 11765"/>
              </a:avLst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36504" y="2013585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SECTION 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2975" y="2992755"/>
            <a:ext cx="10429875" cy="649796"/>
            <a:chOff x="942975" y="2992755"/>
            <a:chExt cx="10429875" cy="649796"/>
          </a:xfrm>
        </p:grpSpPr>
        <p:sp>
          <p:nvSpPr>
            <p:cNvPr id="19" name="Ellipse 19"/>
            <p:cNvSpPr/>
            <p:nvPr/>
          </p:nvSpPr>
          <p:spPr>
            <a:xfrm>
              <a:off x="942975" y="3019425"/>
              <a:ext cx="514350" cy="514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23B5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9315" y="31908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99082" y="2992755"/>
              <a:ext cx="31577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方法、流程与实验设计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02892" y="3378518"/>
              <a:ext cx="3472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Method · Pipeline · Evaluation Protocol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306050" y="3067050"/>
              <a:ext cx="1066800" cy="323850"/>
            </a:xfrm>
            <a:prstGeom prst="roundRect">
              <a:avLst>
                <a:gd name="adj" fmla="val 11765"/>
              </a:avLst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36504" y="3156585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SECTION 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2975" y="4135755"/>
            <a:ext cx="10429875" cy="649796"/>
            <a:chOff x="942975" y="4135755"/>
            <a:chExt cx="10429875" cy="649796"/>
          </a:xfrm>
        </p:grpSpPr>
        <p:sp>
          <p:nvSpPr>
            <p:cNvPr id="26" name="Ellipse 26"/>
            <p:cNvSpPr/>
            <p:nvPr/>
          </p:nvSpPr>
          <p:spPr>
            <a:xfrm>
              <a:off x="942975" y="4162425"/>
              <a:ext cx="514350" cy="5143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23B5D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9315" y="43338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99082" y="4135755"/>
              <a:ext cx="31577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结果、图表与对照分析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02892" y="4521518"/>
              <a:ext cx="3038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Results · Figure · Table · Ablation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06050" y="4210050"/>
              <a:ext cx="1066800" cy="323850"/>
            </a:xfrm>
            <a:prstGeom prst="roundRect">
              <a:avLst>
                <a:gd name="adj" fmla="val 11765"/>
              </a:avLst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36504" y="4299585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SECTION 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2975" y="5278755"/>
            <a:ext cx="10429875" cy="649796"/>
            <a:chOff x="942975" y="5278755"/>
            <a:chExt cx="10429875" cy="649796"/>
          </a:xfrm>
        </p:grpSpPr>
        <p:sp>
          <p:nvSpPr>
            <p:cNvPr id="33" name="Ellipse 33"/>
            <p:cNvSpPr/>
            <p:nvPr/>
          </p:nvSpPr>
          <p:spPr>
            <a:xfrm>
              <a:off x="942975" y="5305425"/>
              <a:ext cx="514350" cy="51435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69315" y="54768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99082" y="5278755"/>
              <a:ext cx="25304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结论、局限与讨论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02892" y="5664518"/>
              <a:ext cx="3119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Conclusion · Limitation · Next Step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306050" y="5353050"/>
              <a:ext cx="1066800" cy="323850"/>
            </a:xfrm>
            <a:prstGeom prst="roundRect">
              <a:avLst>
                <a:gd name="adj" fmla="val 11765"/>
              </a:avLst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510754" y="5442585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DISCUSS</a:t>
              </a:r>
            </a:p>
          </p:txBody>
        </p:sp>
      </p:grpSp>
      <p:pic>
        <p:nvPicPr>
          <p:cNvPr id="44" name="图片 43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3B6DD251-8241-CCB7-8ED7-4BDEC7439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858250" y="0"/>
              <a:ext cx="3333750" cy="685800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28650" y="400050"/>
            <a:ext cx="10877550" cy="752475"/>
            <a:chOff x="628650" y="400050"/>
            <a:chExt cx="10877550" cy="752475"/>
          </a:xfrm>
        </p:grpSpPr>
        <p:sp>
          <p:nvSpPr>
            <p:cNvPr id="5" name="Freeform 5"/>
            <p:cNvSpPr/>
            <p:nvPr/>
          </p:nvSpPr>
          <p:spPr>
            <a:xfrm>
              <a:off x="628650" y="4381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04850" y="4953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123B5D"/>
            </a:solidFill>
            <a:ln w="19050">
              <a:solidFill>
                <a:srgbClr val="D8A54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558165"/>
              <a:ext cx="18866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章节 / SECTION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1049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5F8AA8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400050"/>
              <a:ext cx="514350" cy="514350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485775"/>
              <a:ext cx="1543050" cy="533400"/>
            </a:xfrm>
            <a:prstGeom prst="rect">
              <a:avLst/>
            </a:prstGeom>
          </p:spPr>
        </p:pic>
        <p:sp>
          <p:nvSpPr>
            <p:cNvPr id="11" name="Line 11"/>
            <p:cNvSpPr/>
            <p:nvPr/>
          </p:nvSpPr>
          <p:spPr>
            <a:xfrm>
              <a:off x="9315450" y="11430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66750" y="1209675"/>
            <a:ext cx="1901342" cy="966026"/>
            <a:chOff x="666750" y="1209675"/>
            <a:chExt cx="1901342" cy="966026"/>
          </a:xfrm>
        </p:grpSpPr>
        <p:sp>
          <p:nvSpPr>
            <p:cNvPr id="13" name="TextBox 13"/>
            <p:cNvSpPr txBox="1"/>
            <p:nvPr/>
          </p:nvSpPr>
          <p:spPr>
            <a:xfrm>
              <a:off x="666750" y="1209675"/>
              <a:ext cx="74218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dirty="0">
                  <a:solidFill>
                    <a:srgbClr val="D8A54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1911668"/>
              <a:ext cx="1889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225" dirty="0">
                  <a:solidFill>
                    <a:srgbClr val="CBD5DE"/>
                  </a:solidFill>
                  <a:latin typeface="Arial"/>
                  <a:ea typeface="Arial"/>
                  <a:cs typeface="Arial"/>
                </a:rPr>
                <a:t>SECTION OPENER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000375"/>
            <a:ext cx="6400800" cy="1447800"/>
            <a:chOff x="666750" y="3000375"/>
            <a:chExt cx="6400800" cy="1447800"/>
          </a:xfrm>
        </p:grpSpPr>
        <p:sp>
          <p:nvSpPr>
            <p:cNvPr id="16" name="TextBox 16"/>
            <p:cNvSpPr txBox="1"/>
            <p:nvPr/>
          </p:nvSpPr>
          <p:spPr>
            <a:xfrm>
              <a:off x="666750" y="3000375"/>
              <a:ext cx="541477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章节标题置于此处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5132" y="375475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DFE5EA"/>
                  </a:solidFill>
                  <a:latin typeface="Arial"/>
                  <a:ea typeface="Microsoft YaHei"/>
                  <a:cs typeface="Arial"/>
                </a:rPr>
                <a:t>用一句话界定本章节要回答的核心问题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443865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28575">
              <a:solidFill>
                <a:srgbClr val="D8A54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299448" y="1018222"/>
            <a:ext cx="2206752" cy="2991613"/>
            <a:chOff x="9299448" y="1018222"/>
            <a:chExt cx="2206752" cy="2991613"/>
          </a:xfrm>
        </p:grpSpPr>
        <p:sp>
          <p:nvSpPr>
            <p:cNvPr id="20" name="TextBox 20"/>
            <p:cNvSpPr txBox="1"/>
            <p:nvPr/>
          </p:nvSpPr>
          <p:spPr>
            <a:xfrm>
              <a:off x="9427335" y="1018222"/>
              <a:ext cx="69642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04782" y="1934909"/>
              <a:ext cx="12065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i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Context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08592" y="2415540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背景 · 问题 · 假设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315450" y="28194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08592" y="3188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建议控制在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99448" y="3393758"/>
              <a:ext cx="8082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3–5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89642" y="35880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页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79704" y="6328410"/>
            <a:ext cx="30760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CBD5DE"/>
                </a:solidFill>
                <a:latin typeface="Arial"/>
                <a:ea typeface="Arial"/>
                <a:cs typeface="Arial"/>
              </a:rPr>
              <a:t>DALIAN UNIVERSITY · ACADEMIC MEETING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标题、段落与层级规范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1804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TYPOGRAPHY SYSTEM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352550"/>
            <a:ext cx="4286250" cy="4591050"/>
            <a:chOff x="609600" y="1352550"/>
            <a:chExt cx="4286250" cy="4591050"/>
          </a:xfrm>
        </p:grpSpPr>
        <p:sp>
          <p:nvSpPr>
            <p:cNvPr id="11" name="Rectangle 11"/>
            <p:cNvSpPr/>
            <p:nvPr/>
          </p:nvSpPr>
          <p:spPr>
            <a:xfrm>
              <a:off x="609600" y="1352550"/>
              <a:ext cx="4286250" cy="459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8398" y="1517332"/>
              <a:ext cx="36024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一级标题 / H1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042160"/>
              <a:ext cx="210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42px · Georgia / 宋体 · 700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14400" y="2457450"/>
              <a:ext cx="3638550" cy="9525"/>
            </a:xfrm>
            <a:custGeom>
              <a:avLst/>
              <a:gdLst/>
              <a:ahLst/>
              <a:cxnLst/>
              <a:rect l="l" t="t" r="r" b="b"/>
              <a:pathLst>
                <a:path w="3638550" h="9525">
                  <a:moveTo>
                    <a:pt x="0" y="0"/>
                  </a:moveTo>
                  <a:lnTo>
                    <a:pt x="3638550" y="0"/>
                  </a:lnTo>
                </a:path>
              </a:pathLst>
            </a:custGeom>
            <a:noFill/>
            <a:ln w="9525">
              <a:solidFill>
                <a:srgbClr val="DFE5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3732" y="2726055"/>
              <a:ext cx="24016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二级标题 / H2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3108960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28px · 用于页面内主分区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5256" y="3634740"/>
              <a:ext cx="16984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三级标题 / H3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304" y="3985260"/>
              <a:ext cx="200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24px · 用于卡片或论点标题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" y="4610100"/>
              <a:ext cx="114300" cy="723900"/>
            </a:xfrm>
            <a:prstGeom prst="rect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0056" y="4663440"/>
              <a:ext cx="1731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i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强调句 / Lead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2342" y="50168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保持短、准、可被引用。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18582" y="1430655"/>
            <a:ext cx="6163818" cy="4427601"/>
            <a:chOff x="5418582" y="1430655"/>
            <a:chExt cx="6163818" cy="4427601"/>
          </a:xfrm>
        </p:grpSpPr>
        <p:sp>
          <p:nvSpPr>
            <p:cNvPr id="23" name="TextBox 23"/>
            <p:cNvSpPr txBox="1"/>
            <p:nvPr/>
          </p:nvSpPr>
          <p:spPr>
            <a:xfrm>
              <a:off x="5418582" y="1430655"/>
              <a:ext cx="1903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正文段落示例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20106" y="1958340"/>
              <a:ext cx="5312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正文建议使用 24px，控制单行在 28–34 个汉字。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20106" y="232981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每段只表达一个观点，并通过关键词加粗或色彩强调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20106" y="27012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建立视觉入口，避免把论文原文整段搬上幻灯片。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429250" y="3276600"/>
              <a:ext cx="6153150" cy="8953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700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编辑规则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70042" y="379761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一页一个核心命题；三段以内；正文左对齐；不做两端分散。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20106" y="456819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引用与脚注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22392" y="4997768"/>
              <a:ext cx="4729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观点后使用上标式编号 [1]；页脚给出作者、年份与来源。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429250" y="5448300"/>
              <a:ext cx="6153150" cy="9525"/>
            </a:xfrm>
            <a:custGeom>
              <a:avLst/>
              <a:gdLst/>
              <a:ahLst/>
              <a:cxnLst/>
              <a:rect l="l" t="t" r="r" b="b"/>
              <a:pathLst>
                <a:path w="6153150" h="9525">
                  <a:moveTo>
                    <a:pt x="0" y="0"/>
                  </a:moveTo>
                  <a:lnTo>
                    <a:pt x="6153150" y="0"/>
                  </a:lnTo>
                </a:path>
              </a:pathLst>
            </a:custGeom>
            <a:noFill/>
            <a:ln w="9525">
              <a:solidFill>
                <a:srgbClr val="DFE5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23154" y="5623560"/>
              <a:ext cx="4742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[1] Author et al., Journal Name, 2026. DOI: xx.xxxx/xxxxx</a:t>
              </a:r>
            </a:p>
          </p:txBody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3238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3810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7760" y="304800"/>
              <a:ext cx="36149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学术论点与引用页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784860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CLAIM · EVIDENCE · INTERPRETATION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19050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27622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085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257300"/>
            <a:ext cx="10972800" cy="1200150"/>
            <a:chOff x="609600" y="1257300"/>
            <a:chExt cx="10972800" cy="1200150"/>
          </a:xfrm>
        </p:grpSpPr>
        <p:sp>
          <p:nvSpPr>
            <p:cNvPr id="11" name="Rectangle 11"/>
            <p:cNvSpPr/>
            <p:nvPr/>
          </p:nvSpPr>
          <p:spPr>
            <a:xfrm>
              <a:off x="609600" y="1257300"/>
              <a:ext cx="10972800" cy="120015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8304" y="1527810"/>
              <a:ext cx="11720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D8A546"/>
                  </a:solidFill>
                  <a:latin typeface="Arial"/>
                  <a:ea typeface="Arial"/>
                  <a:cs typeface="Arial"/>
                </a:rPr>
                <a:t>CORE CLAIM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208" y="1874520"/>
              <a:ext cx="89855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一句可被验证、可被反驳、也可被记住的核心研究命题。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8932" y="2916555"/>
            <a:ext cx="5835396" cy="2098929"/>
            <a:chOff x="598932" y="2916555"/>
            <a:chExt cx="5835396" cy="2098929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2916555"/>
              <a:ext cx="28230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01 证据 / Evidence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33680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用一个关键数字、实验对照或观察事实支撑命题。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9052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8932" y="4211955"/>
              <a:ext cx="37630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02 解释 / Interpretation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46634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说明证据为何成立、边界在哪里，以及它意味着什么。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38900" y="2895600"/>
            <a:ext cx="5143500" cy="2476500"/>
            <a:chOff x="6438900" y="2895600"/>
            <a:chExt cx="5143500" cy="2476500"/>
          </a:xfrm>
        </p:grpSpPr>
        <p:sp>
          <p:nvSpPr>
            <p:cNvPr id="21" name="Rectangle 21"/>
            <p:cNvSpPr/>
            <p:nvPr/>
          </p:nvSpPr>
          <p:spPr>
            <a:xfrm>
              <a:off x="6438900" y="2895600"/>
              <a:ext cx="51435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38156" y="3271837"/>
              <a:ext cx="211137" cy="180975"/>
              <a:chOff x="6838156" y="3271837"/>
              <a:chExt cx="211137" cy="1809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38156" y="3271837"/>
                <a:ext cx="75406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180975">
                    <a:moveTo>
                      <a:pt x="75406" y="75406"/>
                    </a:moveTo>
                    <a:lnTo>
                      <a:pt x="15081" y="75406"/>
                    </a:lnTo>
                    <a:cubicBezTo>
                      <a:pt x="6752" y="75406"/>
                      <a:pt x="0" y="68654"/>
                      <a:pt x="0" y="60325"/>
                    </a:cubicBezTo>
                    <a:lnTo>
                      <a:pt x="0" y="15081"/>
                    </a:lnTo>
                    <a:cubicBezTo>
                      <a:pt x="0" y="6752"/>
                      <a:pt x="6752" y="0"/>
                      <a:pt x="15081" y="0"/>
                    </a:cubicBezTo>
                    <a:lnTo>
                      <a:pt x="60325" y="0"/>
                    </a:lnTo>
                    <a:cubicBezTo>
                      <a:pt x="68654" y="0"/>
                      <a:pt x="75406" y="6752"/>
                      <a:pt x="75406" y="15081"/>
                    </a:cubicBezTo>
                    <a:lnTo>
                      <a:pt x="75406" y="105569"/>
                    </a:lnTo>
                    <a:cubicBezTo>
                      <a:pt x="75406" y="145790"/>
                      <a:pt x="55303" y="170915"/>
                      <a:pt x="15081" y="180975"/>
                    </a:cubicBezTo>
                  </a:path>
                </a:pathLst>
              </a:custGeom>
              <a:noFill/>
              <a:ln w="19050">
                <a:solidFill>
                  <a:srgbClr val="D8A54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73887" y="3271837"/>
                <a:ext cx="75406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180975">
                    <a:moveTo>
                      <a:pt x="75406" y="75406"/>
                    </a:moveTo>
                    <a:lnTo>
                      <a:pt x="15081" y="75406"/>
                    </a:lnTo>
                    <a:cubicBezTo>
                      <a:pt x="6752" y="75406"/>
                      <a:pt x="0" y="68654"/>
                      <a:pt x="0" y="60325"/>
                    </a:cubicBezTo>
                    <a:lnTo>
                      <a:pt x="0" y="15081"/>
                    </a:lnTo>
                    <a:cubicBezTo>
                      <a:pt x="0" y="6752"/>
                      <a:pt x="6752" y="0"/>
                      <a:pt x="15081" y="0"/>
                    </a:cubicBezTo>
                    <a:lnTo>
                      <a:pt x="60325" y="0"/>
                    </a:lnTo>
                    <a:cubicBezTo>
                      <a:pt x="68654" y="0"/>
                      <a:pt x="75406" y="6752"/>
                      <a:pt x="75406" y="15081"/>
                    </a:cubicBezTo>
                    <a:lnTo>
                      <a:pt x="75406" y="105569"/>
                    </a:lnTo>
                    <a:cubicBezTo>
                      <a:pt x="75406" y="145790"/>
                      <a:pt x="55303" y="170915"/>
                      <a:pt x="15081" y="180975"/>
                    </a:cubicBezTo>
                  </a:path>
                </a:pathLst>
              </a:custGeom>
              <a:noFill/>
              <a:ln w="19050">
                <a:solidFill>
                  <a:srgbClr val="D8A546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52082" y="3754755"/>
              <a:ext cx="43674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i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“引用一句与核心命题直接相关的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2082" y="4135755"/>
              <a:ext cx="43674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i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文献结论，而不是装饰性名言。”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762750" y="476250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rgbClr val="DFE5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6654" y="4975860"/>
              <a:ext cx="4752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Author et al. (2026), Journal Name, Vol(Issue): pages. [1]</a:t>
              </a:r>
            </a:p>
          </p:txBody>
        </p:sp>
      </p:grpSp>
      <p:pic>
        <p:nvPicPr>
          <p:cNvPr id="35" name="图片 34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3B18B349-6E30-B4D1-6272-93EC28965B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333500"/>
            <a:chOff x="0" y="0"/>
            <a:chExt cx="12192000" cy="133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3335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图像标题说明该图回答的问题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489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FIGURE 01 · ACADEMIC IMAGE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581150"/>
            <a:ext cx="7562850" cy="3943350"/>
            <a:chOff x="609600" y="1581150"/>
            <a:chExt cx="7562850" cy="3943350"/>
          </a:xfrm>
        </p:grpSpPr>
        <p:sp>
          <p:nvSpPr>
            <p:cNvPr id="11" name="Rectangle 11"/>
            <p:cNvSpPr/>
            <p:nvPr/>
          </p:nvSpPr>
          <p:spPr>
            <a:xfrm>
              <a:off x="609600" y="1581150"/>
              <a:ext cx="7562850" cy="3943350"/>
            </a:xfrm>
            <a:prstGeom prst="rect">
              <a:avLst/>
            </a:prstGeom>
            <a:solidFill>
              <a:srgbClr val="EEF2F6"/>
            </a:solidFill>
            <a:ln w="19050">
              <a:solidFill>
                <a:srgbClr val="5F8AA8"/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962400" y="2905125"/>
              <a:ext cx="628651" cy="628651"/>
              <a:chOff x="3962400" y="2905125"/>
              <a:chExt cx="628651" cy="6286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381500" y="307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49" y="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962400" y="2905125"/>
                <a:ext cx="628651" cy="628651"/>
              </a:xfrm>
              <a:custGeom>
                <a:avLst/>
                <a:gdLst/>
                <a:ahLst/>
                <a:cxnLst/>
                <a:rect l="l" t="t" r="r" b="b"/>
                <a:pathLst>
                  <a:path w="628651" h="628651">
                    <a:moveTo>
                      <a:pt x="0" y="104775"/>
                    </a:moveTo>
                    <a:cubicBezTo>
                      <a:pt x="0" y="46909"/>
                      <a:pt x="46909" y="0"/>
                      <a:pt x="104775" y="0"/>
                    </a:cubicBezTo>
                    <a:lnTo>
                      <a:pt x="523875" y="0"/>
                    </a:lnTo>
                    <a:cubicBezTo>
                      <a:pt x="581741" y="0"/>
                      <a:pt x="628651" y="46909"/>
                      <a:pt x="628651" y="104775"/>
                    </a:cubicBezTo>
                    <a:lnTo>
                      <a:pt x="628651" y="523875"/>
                    </a:lnTo>
                    <a:cubicBezTo>
                      <a:pt x="628651" y="581741"/>
                      <a:pt x="581741" y="628651"/>
                      <a:pt x="523875" y="628651"/>
                    </a:cubicBezTo>
                    <a:lnTo>
                      <a:pt x="104775" y="628651"/>
                    </a:lnTo>
                    <a:cubicBezTo>
                      <a:pt x="46909" y="628651"/>
                      <a:pt x="0" y="581741"/>
                      <a:pt x="0" y="523875"/>
                    </a:cubicBez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62400" y="3153337"/>
                <a:ext cx="454025" cy="205813"/>
              </a:xfrm>
              <a:custGeom>
                <a:avLst/>
                <a:gdLst/>
                <a:ahLst/>
                <a:cxnLst/>
                <a:rect l="l" t="t" r="r" b="b"/>
                <a:pathLst>
                  <a:path w="454025" h="205813">
                    <a:moveTo>
                      <a:pt x="0" y="205813"/>
                    </a:moveTo>
                    <a:lnTo>
                      <a:pt x="174625" y="31188"/>
                    </a:lnTo>
                    <a:cubicBezTo>
                      <a:pt x="207036" y="0"/>
                      <a:pt x="246990" y="0"/>
                      <a:pt x="279400" y="31188"/>
                    </a:cubicBezTo>
                    <a:lnTo>
                      <a:pt x="454025" y="205813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346575" y="3223187"/>
                <a:ext cx="244475" cy="135963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135963">
                    <a:moveTo>
                      <a:pt x="0" y="66113"/>
                    </a:moveTo>
                    <a:lnTo>
                      <a:pt x="34925" y="31188"/>
                    </a:lnTo>
                    <a:cubicBezTo>
                      <a:pt x="67335" y="0"/>
                      <a:pt x="107290" y="0"/>
                      <a:pt x="139700" y="31188"/>
                    </a:cubicBezTo>
                    <a:lnTo>
                      <a:pt x="244475" y="135963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473642" y="37490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替换为实验图、机制图或场景图片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12410" y="4121468"/>
              <a:ext cx="4357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推荐比例 1.92:1 · 保持主体清晰 · 避免低分辨率截图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477250" y="1581150"/>
            <a:ext cx="3105150" cy="3943350"/>
            <a:chOff x="8477250" y="1581150"/>
            <a:chExt cx="3105150" cy="3943350"/>
          </a:xfrm>
        </p:grpSpPr>
        <p:sp>
          <p:nvSpPr>
            <p:cNvPr id="20" name="Rectangle 20"/>
            <p:cNvSpPr/>
            <p:nvPr/>
          </p:nvSpPr>
          <p:spPr>
            <a:xfrm>
              <a:off x="8477250" y="1581150"/>
              <a:ext cx="3105150" cy="39433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71382" y="181165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阅读顺序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715375" y="2390775"/>
              <a:ext cx="285750" cy="285750"/>
            </a:xfrm>
            <a:prstGeom prst="ellipse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14044" y="24774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7142" y="24545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先给出观察对象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715375" y="2924175"/>
              <a:ext cx="285750" cy="285750"/>
            </a:xfrm>
            <a:prstGeom prst="ellipse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14044" y="30108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37142" y="2987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再标注关键区域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715375" y="3457575"/>
              <a:ext cx="285750" cy="28575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12101" y="35442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7142" y="35213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最后给出结论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782050" y="411480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9525">
              <a:solidFill>
                <a:srgbClr val="DFE5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751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图内标注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75954" y="4680585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使用 16–18px；最多两种颜色；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75954" y="4918710"/>
              <a:ext cx="2265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箭头线宽 2px；标注靠近对象。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2742" y="5759768"/>
            <a:ext cx="5069639" cy="536638"/>
            <a:chOff x="602742" y="5759768"/>
            <a:chExt cx="5069639" cy="536638"/>
          </a:xfrm>
        </p:grpSpPr>
        <p:sp>
          <p:nvSpPr>
            <p:cNvPr id="36" name="TextBox 36"/>
            <p:cNvSpPr txBox="1"/>
            <p:nvPr/>
          </p:nvSpPr>
          <p:spPr>
            <a:xfrm>
              <a:off x="602742" y="5759768"/>
              <a:ext cx="5069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图 1.</a:t>
              </a:r>
              <a:r>
                <a:rPr lang="zh-CN" sz="135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 图注应解释图中变量、条件、缩写与最重要的视觉结论。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504" y="6061710"/>
              <a:ext cx="4414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来源：作者绘制 / 数据集名称 / 文献 [1]，必要时注明许可。</a:t>
              </a:r>
            </a:p>
          </p:txBody>
        </p:sp>
      </p:grpSp>
      <p:pic>
        <p:nvPicPr>
          <p:cNvPr id="43" name="图片 42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0FFCF25A-5D10-896A-A826-5734D7D4CB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>
              <a:solidFill>
                <a:srgbClr val="5F8AA8"/>
              </a:solidFill>
              <a:prstDash val="lgDash"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035870" y="2495550"/>
            <a:ext cx="2539860" cy="1756601"/>
            <a:chOff x="7035870" y="2495550"/>
            <a:chExt cx="2539860" cy="1756601"/>
          </a:xfrm>
        </p:grpSpPr>
        <p:grpSp>
          <p:nvGrpSpPr>
            <p:cNvPr id="9" name="Group 9"/>
            <p:cNvGrpSpPr/>
            <p:nvPr/>
          </p:nvGrpSpPr>
          <p:grpSpPr>
            <a:xfrm>
              <a:off x="7905750" y="2495550"/>
              <a:ext cx="800101" cy="800101"/>
              <a:chOff x="7905750" y="2495550"/>
              <a:chExt cx="800101" cy="80010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439150" y="2717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445" y="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905750" y="2495550"/>
                <a:ext cx="800101" cy="800101"/>
              </a:xfrm>
              <a:custGeom>
                <a:avLst/>
                <a:gdLst/>
                <a:ahLst/>
                <a:cxnLst/>
                <a:rect l="l" t="t" r="r" b="b"/>
                <a:pathLst>
                  <a:path w="800101" h="800101">
                    <a:moveTo>
                      <a:pt x="0" y="133350"/>
                    </a:moveTo>
                    <a:cubicBezTo>
                      <a:pt x="0" y="59703"/>
                      <a:pt x="59703" y="0"/>
                      <a:pt x="133350" y="0"/>
                    </a:cubicBezTo>
                    <a:lnTo>
                      <a:pt x="666750" y="0"/>
                    </a:lnTo>
                    <a:cubicBezTo>
                      <a:pt x="740398" y="0"/>
                      <a:pt x="800101" y="59703"/>
                      <a:pt x="800101" y="133350"/>
                    </a:cubicBezTo>
                    <a:lnTo>
                      <a:pt x="800101" y="666750"/>
                    </a:lnTo>
                    <a:cubicBezTo>
                      <a:pt x="800101" y="740398"/>
                      <a:pt x="740398" y="800101"/>
                      <a:pt x="666750" y="800101"/>
                    </a:cubicBezTo>
                    <a:lnTo>
                      <a:pt x="133350" y="800101"/>
                    </a:lnTo>
                    <a:cubicBezTo>
                      <a:pt x="59703" y="800101"/>
                      <a:pt x="0" y="740398"/>
                      <a:pt x="0" y="666750"/>
                    </a:cubicBez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905750" y="2811456"/>
                <a:ext cx="577850" cy="261944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261944">
                    <a:moveTo>
                      <a:pt x="0" y="261944"/>
                    </a:moveTo>
                    <a:lnTo>
                      <a:pt x="222250" y="39694"/>
                    </a:lnTo>
                    <a:cubicBezTo>
                      <a:pt x="263500" y="0"/>
                      <a:pt x="314351" y="0"/>
                      <a:pt x="355600" y="39694"/>
                    </a:cubicBezTo>
                    <a:lnTo>
                      <a:pt x="577850" y="261944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394700" y="2900357"/>
                <a:ext cx="311150" cy="173044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173044">
                    <a:moveTo>
                      <a:pt x="0" y="84144"/>
                    </a:moveTo>
                    <a:lnTo>
                      <a:pt x="44450" y="39694"/>
                    </a:lnTo>
                    <a:cubicBezTo>
                      <a:pt x="85700" y="0"/>
                      <a:pt x="136550" y="0"/>
                      <a:pt x="177800" y="39694"/>
                    </a:cubicBezTo>
                    <a:lnTo>
                      <a:pt x="311150" y="173044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404621" y="35642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全幅图片占位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35870" y="3988118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建议 16:9 / 2560×1440 或更高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0"/>
            <a:ext cx="5334000" cy="6858000"/>
            <a:chOff x="0" y="0"/>
            <a:chExt cx="5334000" cy="6858000"/>
          </a:xfrm>
        </p:grpSpPr>
        <p:sp>
          <p:nvSpPr>
            <p:cNvPr id="13" name="Rectangle 13"/>
            <p:cNvSpPr/>
            <p:nvPr/>
          </p:nvSpPr>
          <p:spPr>
            <a:xfrm>
              <a:off x="0" y="0"/>
              <a:ext cx="5334000" cy="685800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9704" y="822960"/>
              <a:ext cx="1495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D8A546"/>
                  </a:solidFill>
                  <a:latin typeface="Arial"/>
                  <a:ea typeface="Arial"/>
                  <a:cs typeface="Arial"/>
                </a:rPr>
                <a:t>VISUAL ANCHOR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750" y="1685925"/>
              <a:ext cx="407060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一句关键发现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" y="2333625"/>
              <a:ext cx="407060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覆盖整页视觉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32956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47625">
              <a:solidFill>
                <a:srgbClr val="D8A54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3691890"/>
              <a:ext cx="3471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FE5EA"/>
                  </a:solidFill>
                  <a:latin typeface="Arial"/>
                  <a:ea typeface="Microsoft YaHei"/>
                  <a:cs typeface="Arial"/>
                </a:rPr>
                <a:t>用 1–2 行解释图片与研究命题的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6656" y="40538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FE5EA"/>
                  </a:solidFill>
                  <a:latin typeface="Arial"/>
                  <a:ea typeface="Microsoft YaHei"/>
                  <a:cs typeface="Arial"/>
                </a:rPr>
                <a:t>直接关系，避免复述图中可见内容。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5010150"/>
              <a:ext cx="1733550" cy="400050"/>
            </a:xfrm>
            <a:prstGeom prst="rect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5394" y="5131118"/>
              <a:ext cx="133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KEY TAKEAWAY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266700"/>
            <a:ext cx="3962400" cy="847725"/>
            <a:chOff x="685800" y="266700"/>
            <a:chExt cx="3962400" cy="847725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5150" y="266700"/>
              <a:ext cx="438150" cy="438150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7600" y="323850"/>
              <a:ext cx="990600" cy="342900"/>
            </a:xfrm>
            <a:prstGeom prst="rect">
              <a:avLst/>
            </a:prstGeom>
          </p:spPr>
        </p:pic>
        <p:sp>
          <p:nvSpPr>
            <p:cNvPr id="28" name="Line 28"/>
            <p:cNvSpPr/>
            <p:nvPr/>
          </p:nvSpPr>
          <p:spPr>
            <a:xfrm>
              <a:off x="685800" y="11049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5F8AA8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598932" y="1202055"/>
            <a:ext cx="3363468" cy="3640646"/>
            <a:chOff x="598932" y="1202055"/>
            <a:chExt cx="3363468" cy="3640646"/>
          </a:xfrm>
        </p:grpSpPr>
        <p:sp>
          <p:nvSpPr>
            <p:cNvPr id="2" name="TextBox 2"/>
            <p:cNvSpPr txBox="1"/>
            <p:nvPr/>
          </p:nvSpPr>
          <p:spPr>
            <a:xfrm>
              <a:off x="598932" y="1202055"/>
              <a:ext cx="18613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7212B"/>
                  </a:solidFill>
                  <a:latin typeface="Georgia"/>
                  <a:ea typeface="Georgia"/>
                  <a:cs typeface="Georgia"/>
                </a:rPr>
                <a:t>A · Baseline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1657350"/>
              <a:ext cx="3352800" cy="2705100"/>
            </a:xfrm>
            <a:prstGeom prst="rect">
              <a:avLst/>
            </a:prstGeom>
            <a:solidFill>
              <a:srgbClr val="EEF2F6"/>
            </a:solidFill>
            <a:ln w="19050">
              <a:solidFill>
                <a:srgbClr val="5F8AA8"/>
              </a:solidFill>
              <a:prstDash val="lgDash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2043112" y="2652712"/>
              <a:ext cx="485775" cy="485774"/>
              <a:chOff x="2043112" y="2652712"/>
              <a:chExt cx="485775" cy="48577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366962" y="2787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70" y="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043112" y="265271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80962"/>
                    </a:moveTo>
                    <a:cubicBezTo>
                      <a:pt x="0" y="36248"/>
                      <a:pt x="36248" y="0"/>
                      <a:pt x="80962" y="0"/>
                    </a:cubicBezTo>
                    <a:lnTo>
                      <a:pt x="404812" y="0"/>
                    </a:lnTo>
                    <a:cubicBezTo>
                      <a:pt x="449526" y="0"/>
                      <a:pt x="485774" y="36248"/>
                      <a:pt x="485774" y="80962"/>
                    </a:cubicBezTo>
                    <a:lnTo>
                      <a:pt x="485774" y="404812"/>
                    </a:lnTo>
                    <a:cubicBezTo>
                      <a:pt x="485774" y="449526"/>
                      <a:pt x="449526" y="485774"/>
                      <a:pt x="404812" y="485774"/>
                    </a:cubicBezTo>
                    <a:lnTo>
                      <a:pt x="80962" y="485774"/>
                    </a:lnTo>
                    <a:cubicBezTo>
                      <a:pt x="36248" y="485774"/>
                      <a:pt x="0" y="449526"/>
                      <a:pt x="0" y="404812"/>
                    </a:cubicBezTo>
                    <a:lnTo>
                      <a:pt x="0" y="80962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2043112" y="2844512"/>
                <a:ext cx="350837" cy="159037"/>
              </a:xfrm>
              <a:custGeom>
                <a:avLst/>
                <a:gdLst/>
                <a:ahLst/>
                <a:cxnLst/>
                <a:rect l="l" t="t" r="r" b="b"/>
                <a:pathLst>
                  <a:path w="350837" h="159037">
                    <a:moveTo>
                      <a:pt x="0" y="159037"/>
                    </a:moveTo>
                    <a:lnTo>
                      <a:pt x="134937" y="24100"/>
                    </a:lnTo>
                    <a:cubicBezTo>
                      <a:pt x="159982" y="0"/>
                      <a:pt x="190855" y="0"/>
                      <a:pt x="215900" y="24100"/>
                    </a:cubicBezTo>
                    <a:lnTo>
                      <a:pt x="350837" y="159037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2339975" y="2898487"/>
                <a:ext cx="188912" cy="105062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105062">
                    <a:moveTo>
                      <a:pt x="0" y="51087"/>
                    </a:moveTo>
                    <a:lnTo>
                      <a:pt x="26987" y="24100"/>
                    </a:lnTo>
                    <a:cubicBezTo>
                      <a:pt x="52032" y="0"/>
                      <a:pt x="82906" y="0"/>
                      <a:pt x="107950" y="24100"/>
                    </a:cubicBezTo>
                    <a:lnTo>
                      <a:pt x="188912" y="105062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703070" y="34166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图片 / 结果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4578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一句话描述观察到的差异。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08932" y="1202055"/>
            <a:ext cx="3363468" cy="3640646"/>
            <a:chOff x="4408932" y="1202055"/>
            <a:chExt cx="3363468" cy="3640646"/>
          </a:xfrm>
        </p:grpSpPr>
        <p:sp>
          <p:nvSpPr>
            <p:cNvPr id="12" name="TextBox 12"/>
            <p:cNvSpPr txBox="1"/>
            <p:nvPr/>
          </p:nvSpPr>
          <p:spPr>
            <a:xfrm>
              <a:off x="4408932" y="1202055"/>
              <a:ext cx="17726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7212B"/>
                  </a:solidFill>
                  <a:latin typeface="Georgia"/>
                  <a:ea typeface="Georgia"/>
                  <a:cs typeface="Georgia"/>
                </a:rPr>
                <a:t>B · Variant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1657350"/>
              <a:ext cx="3352800" cy="2705100"/>
            </a:xfrm>
            <a:prstGeom prst="rect">
              <a:avLst/>
            </a:prstGeom>
            <a:solidFill>
              <a:srgbClr val="EEF2F6"/>
            </a:solidFill>
            <a:ln w="19050">
              <a:solidFill>
                <a:srgbClr val="5F8AA8"/>
              </a:solidFill>
              <a:prstDash val="lgDash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853112" y="2652712"/>
              <a:ext cx="485775" cy="485774"/>
              <a:chOff x="5853112" y="2652712"/>
              <a:chExt cx="485775" cy="48577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176962" y="2787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70" y="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53112" y="265271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80962"/>
                    </a:moveTo>
                    <a:cubicBezTo>
                      <a:pt x="0" y="36248"/>
                      <a:pt x="36248" y="0"/>
                      <a:pt x="80962" y="0"/>
                    </a:cubicBezTo>
                    <a:lnTo>
                      <a:pt x="404812" y="0"/>
                    </a:lnTo>
                    <a:cubicBezTo>
                      <a:pt x="449526" y="0"/>
                      <a:pt x="485774" y="36248"/>
                      <a:pt x="485774" y="80962"/>
                    </a:cubicBezTo>
                    <a:lnTo>
                      <a:pt x="485774" y="404812"/>
                    </a:lnTo>
                    <a:cubicBezTo>
                      <a:pt x="485774" y="449526"/>
                      <a:pt x="449526" y="485774"/>
                      <a:pt x="404812" y="485774"/>
                    </a:cubicBezTo>
                    <a:lnTo>
                      <a:pt x="80962" y="485774"/>
                    </a:lnTo>
                    <a:cubicBezTo>
                      <a:pt x="36248" y="485774"/>
                      <a:pt x="0" y="449526"/>
                      <a:pt x="0" y="404812"/>
                    </a:cubicBezTo>
                    <a:lnTo>
                      <a:pt x="0" y="80962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53112" y="2844512"/>
                <a:ext cx="350837" cy="159037"/>
              </a:xfrm>
              <a:custGeom>
                <a:avLst/>
                <a:gdLst/>
                <a:ahLst/>
                <a:cxnLst/>
                <a:rect l="l" t="t" r="r" b="b"/>
                <a:pathLst>
                  <a:path w="350837" h="159037">
                    <a:moveTo>
                      <a:pt x="0" y="159037"/>
                    </a:moveTo>
                    <a:lnTo>
                      <a:pt x="134937" y="24100"/>
                    </a:lnTo>
                    <a:cubicBezTo>
                      <a:pt x="159982" y="0"/>
                      <a:pt x="190855" y="0"/>
                      <a:pt x="215900" y="24100"/>
                    </a:cubicBezTo>
                    <a:lnTo>
                      <a:pt x="350837" y="159037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149975" y="2898487"/>
                <a:ext cx="188912" cy="105062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105062">
                    <a:moveTo>
                      <a:pt x="0" y="51087"/>
                    </a:moveTo>
                    <a:lnTo>
                      <a:pt x="26987" y="24100"/>
                    </a:lnTo>
                    <a:cubicBezTo>
                      <a:pt x="52032" y="0"/>
                      <a:pt x="82906" y="0"/>
                      <a:pt x="107950" y="24100"/>
                    </a:cubicBezTo>
                    <a:lnTo>
                      <a:pt x="188912" y="105062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5513070" y="34166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图片 / 结果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2742" y="4578668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保持与 A 完全相同的裁切范围。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18932" y="1202055"/>
            <a:ext cx="3363468" cy="3640646"/>
            <a:chOff x="8218932" y="1202055"/>
            <a:chExt cx="3363468" cy="3640646"/>
          </a:xfrm>
        </p:grpSpPr>
        <p:sp>
          <p:nvSpPr>
            <p:cNvPr id="22" name="TextBox 22"/>
            <p:cNvSpPr txBox="1"/>
            <p:nvPr/>
          </p:nvSpPr>
          <p:spPr>
            <a:xfrm>
              <a:off x="8218932" y="1202055"/>
              <a:ext cx="20256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7212B"/>
                  </a:solidFill>
                  <a:latin typeface="Georgia"/>
                  <a:ea typeface="Georgia"/>
                  <a:cs typeface="Georgia"/>
                </a:rPr>
                <a:t>C · Proposed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229600" y="1657350"/>
              <a:ext cx="3352800" cy="2705100"/>
            </a:xfrm>
            <a:prstGeom prst="rect">
              <a:avLst/>
            </a:prstGeom>
            <a:solidFill>
              <a:srgbClr val="EEF2F6"/>
            </a:solidFill>
            <a:ln w="28575">
              <a:solidFill>
                <a:srgbClr val="D8A546"/>
              </a:solidFill>
              <a:prstDash val="lgDash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663112" y="2652712"/>
              <a:ext cx="485775" cy="485774"/>
              <a:chOff x="9663112" y="2652712"/>
              <a:chExt cx="485775" cy="48577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986962" y="2787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70" y="0"/>
                    </a:lnTo>
                  </a:path>
                </a:pathLst>
              </a:custGeom>
              <a:noFill/>
              <a:ln w="19050">
                <a:solidFill>
                  <a:srgbClr val="D8A54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663112" y="265271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80962"/>
                    </a:moveTo>
                    <a:cubicBezTo>
                      <a:pt x="0" y="36248"/>
                      <a:pt x="36248" y="0"/>
                      <a:pt x="80962" y="0"/>
                    </a:cubicBezTo>
                    <a:lnTo>
                      <a:pt x="404812" y="0"/>
                    </a:lnTo>
                    <a:cubicBezTo>
                      <a:pt x="449526" y="0"/>
                      <a:pt x="485774" y="36248"/>
                      <a:pt x="485774" y="80962"/>
                    </a:cubicBezTo>
                    <a:lnTo>
                      <a:pt x="485774" y="404812"/>
                    </a:lnTo>
                    <a:cubicBezTo>
                      <a:pt x="485774" y="449526"/>
                      <a:pt x="449526" y="485774"/>
                      <a:pt x="404812" y="485774"/>
                    </a:cubicBezTo>
                    <a:lnTo>
                      <a:pt x="80962" y="485774"/>
                    </a:lnTo>
                    <a:cubicBezTo>
                      <a:pt x="36248" y="485774"/>
                      <a:pt x="0" y="449526"/>
                      <a:pt x="0" y="404812"/>
                    </a:cubicBezTo>
                    <a:lnTo>
                      <a:pt x="0" y="80962"/>
                    </a:lnTo>
                  </a:path>
                </a:pathLst>
              </a:custGeom>
              <a:noFill/>
              <a:ln w="19050">
                <a:solidFill>
                  <a:srgbClr val="D8A54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663112" y="2844512"/>
                <a:ext cx="350837" cy="159037"/>
              </a:xfrm>
              <a:custGeom>
                <a:avLst/>
                <a:gdLst/>
                <a:ahLst/>
                <a:cxnLst/>
                <a:rect l="l" t="t" r="r" b="b"/>
                <a:pathLst>
                  <a:path w="350837" h="159037">
                    <a:moveTo>
                      <a:pt x="0" y="159037"/>
                    </a:moveTo>
                    <a:lnTo>
                      <a:pt x="134937" y="24100"/>
                    </a:lnTo>
                    <a:cubicBezTo>
                      <a:pt x="159982" y="0"/>
                      <a:pt x="190855" y="0"/>
                      <a:pt x="215900" y="24100"/>
                    </a:cubicBezTo>
                    <a:lnTo>
                      <a:pt x="350837" y="159037"/>
                    </a:lnTo>
                  </a:path>
                </a:pathLst>
              </a:custGeom>
              <a:noFill/>
              <a:ln w="19050">
                <a:solidFill>
                  <a:srgbClr val="D8A54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959975" y="2898487"/>
                <a:ext cx="188912" cy="105062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105062">
                    <a:moveTo>
                      <a:pt x="0" y="51087"/>
                    </a:moveTo>
                    <a:lnTo>
                      <a:pt x="26987" y="24100"/>
                    </a:lnTo>
                    <a:cubicBezTo>
                      <a:pt x="52032" y="0"/>
                      <a:pt x="82906" y="0"/>
                      <a:pt x="107950" y="24100"/>
                    </a:cubicBezTo>
                    <a:lnTo>
                      <a:pt x="188912" y="105062"/>
                    </a:lnTo>
                  </a:path>
                </a:pathLst>
              </a:custGeom>
              <a:noFill/>
              <a:ln w="19050">
                <a:solidFill>
                  <a:srgbClr val="D8A54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23070" y="34166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图片 / 结果 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2742" y="45786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金色边框标记推荐或最佳结果。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5219700"/>
            <a:ext cx="10972800" cy="819150"/>
            <a:chOff x="609600" y="5219700"/>
            <a:chExt cx="10972800" cy="819150"/>
          </a:xfrm>
        </p:grpSpPr>
        <p:sp>
          <p:nvSpPr>
            <p:cNvPr id="32" name="Rectangle 32"/>
            <p:cNvSpPr/>
            <p:nvPr/>
          </p:nvSpPr>
          <p:spPr>
            <a:xfrm>
              <a:off x="609600" y="5219700"/>
              <a:ext cx="10972800" cy="81915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0204" y="5414010"/>
              <a:ext cx="24069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D8A546"/>
                  </a:solidFill>
                  <a:latin typeface="Arial"/>
                  <a:ea typeface="Arial"/>
                  <a:cs typeface="Arial"/>
                </a:rPr>
                <a:t>COMPARATIVE TAKEAWAY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7156" y="567309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用一个可量化结论收束比较：谁更好、好多少、在哪些条件下成立。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39" name="Rectangle 39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552450" y="3238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28650" y="3810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27760" y="304800"/>
              <a:ext cx="4062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多图对比与消融展示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6904" y="784860"/>
              <a:ext cx="3532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SAME SCALE · SAME CROP · SAME ORDER</a:t>
              </a:r>
            </a:p>
          </p:txBody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190500"/>
              <a:ext cx="514350" cy="514350"/>
            </a:xfrm>
            <a:prstGeom prst="rect">
              <a:avLst/>
            </a:prstGeom>
          </p:spPr>
        </p:pic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276225"/>
              <a:ext cx="1543050" cy="533400"/>
            </a:xfrm>
            <a:prstGeom prst="rect">
              <a:avLst/>
            </a:prstGeom>
          </p:spPr>
        </p:pic>
        <p:sp>
          <p:nvSpPr>
            <p:cNvPr id="46" name="Line 46"/>
            <p:cNvSpPr/>
            <p:nvPr/>
          </p:nvSpPr>
          <p:spPr>
            <a:xfrm>
              <a:off x="609600" y="1085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49" name="图片 4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60E16003-2572-A19C-11AA-B2C025643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266950" y="3143250"/>
            <a:ext cx="6934200" cy="1"/>
            <a:chOff x="2266950" y="3143250"/>
            <a:chExt cx="6934200" cy="1"/>
          </a:xfrm>
        </p:grpSpPr>
        <p:sp>
          <p:nvSpPr>
            <p:cNvPr id="2" name="Line 2"/>
            <p:cNvSpPr/>
            <p:nvPr/>
          </p:nvSpPr>
          <p:spPr>
            <a:xfrm>
              <a:off x="2266950" y="3143250"/>
              <a:ext cx="533400" cy="1"/>
            </a:xfrm>
            <a:prstGeom prst="line">
              <a:avLst/>
            </a:prstGeom>
            <a:noFill/>
            <a:ln w="28575">
              <a:solidFill>
                <a:srgbClr val="5F8AA8"/>
              </a:solidFill>
              <a:tailEnd type="triangle" w="lg" len="lg"/>
            </a:ln>
          </p:spPr>
        </p:sp>
        <p:sp>
          <p:nvSpPr>
            <p:cNvPr id="3" name="Line 3"/>
            <p:cNvSpPr/>
            <p:nvPr/>
          </p:nvSpPr>
          <p:spPr>
            <a:xfrm>
              <a:off x="4400550" y="3143250"/>
              <a:ext cx="533400" cy="1"/>
            </a:xfrm>
            <a:prstGeom prst="line">
              <a:avLst/>
            </a:prstGeom>
            <a:noFill/>
            <a:ln w="28575">
              <a:solidFill>
                <a:srgbClr val="5F8AA8"/>
              </a:solidFill>
              <a:tailEnd type="triangle" w="lg" len="lg"/>
            </a:ln>
          </p:spPr>
        </p:sp>
        <p:sp>
          <p:nvSpPr>
            <p:cNvPr id="4" name="Line 4"/>
            <p:cNvSpPr/>
            <p:nvPr/>
          </p:nvSpPr>
          <p:spPr>
            <a:xfrm>
              <a:off x="6534150" y="3143250"/>
              <a:ext cx="533400" cy="1"/>
            </a:xfrm>
            <a:prstGeom prst="line">
              <a:avLst/>
            </a:prstGeom>
            <a:noFill/>
            <a:ln w="28575">
              <a:solidFill>
                <a:srgbClr val="5F8AA8"/>
              </a:solidFill>
              <a:tailEnd type="triangle" w="lg" len="lg"/>
            </a:ln>
          </p:spPr>
        </p:sp>
        <p:sp>
          <p:nvSpPr>
            <p:cNvPr id="5" name="Line 5"/>
            <p:cNvSpPr/>
            <p:nvPr/>
          </p:nvSpPr>
          <p:spPr>
            <a:xfrm>
              <a:off x="8667750" y="3143250"/>
              <a:ext cx="533400" cy="1"/>
            </a:xfrm>
            <a:prstGeom prst="line">
              <a:avLst/>
            </a:prstGeom>
            <a:noFill/>
            <a:ln w="28575">
              <a:solidFill>
                <a:srgbClr val="5F8AA8"/>
              </a:solidFill>
              <a:tailEnd type="triangle" w="lg" len="lg"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2152650"/>
            <a:ext cx="1689354" cy="1981200"/>
            <a:chOff x="609600" y="2152650"/>
            <a:chExt cx="1689354" cy="1981200"/>
          </a:xfrm>
        </p:grpSpPr>
        <p:sp>
          <p:nvSpPr>
            <p:cNvPr id="7" name="Rectangle 7"/>
            <p:cNvSpPr/>
            <p:nvPr/>
          </p:nvSpPr>
          <p:spPr>
            <a:xfrm>
              <a:off x="609600" y="2152650"/>
              <a:ext cx="1657350" cy="1981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42950" y="2286000"/>
              <a:ext cx="342900" cy="342900"/>
            </a:xfrm>
            <a:prstGeom prst="ellipse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23" y="24107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27774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问题定义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188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输入：研究缺口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4928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产出：可检验假设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43200" y="2152650"/>
            <a:ext cx="1689354" cy="1981200"/>
            <a:chOff x="2743200" y="2152650"/>
            <a:chExt cx="1689354" cy="1981200"/>
          </a:xfrm>
        </p:grpSpPr>
        <p:sp>
          <p:nvSpPr>
            <p:cNvPr id="14" name="Rectangle 14"/>
            <p:cNvSpPr/>
            <p:nvPr/>
          </p:nvSpPr>
          <p:spPr>
            <a:xfrm>
              <a:off x="2743200" y="2152650"/>
              <a:ext cx="1657350" cy="1981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876550" y="2286000"/>
              <a:ext cx="342900" cy="342900"/>
            </a:xfrm>
            <a:prstGeom prst="ellipse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64923" y="24107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2656" y="27774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数据准备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4942" y="3188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输入：样本与标签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4942" y="3492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产出：数据协议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76800" y="2000250"/>
            <a:ext cx="1689354" cy="2286000"/>
            <a:chOff x="4876800" y="2000250"/>
            <a:chExt cx="1689354" cy="2286000"/>
          </a:xfrm>
        </p:grpSpPr>
        <p:sp>
          <p:nvSpPr>
            <p:cNvPr id="21" name="Rectangle 21"/>
            <p:cNvSpPr/>
            <p:nvPr/>
          </p:nvSpPr>
          <p:spPr>
            <a:xfrm>
              <a:off x="4876800" y="2000250"/>
              <a:ext cx="1657350" cy="228600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010150" y="2133600"/>
              <a:ext cx="342900" cy="34290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94636" y="22583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96256" y="26631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方法执行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98542" y="3073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FE5EA"/>
                  </a:solidFill>
                  <a:latin typeface="Arial"/>
                  <a:ea typeface="Microsoft YaHei"/>
                  <a:cs typeface="Arial"/>
                </a:rPr>
                <a:t>输入：参数与约束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98542" y="3378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FE5EA"/>
                  </a:solidFill>
                  <a:latin typeface="Arial"/>
                  <a:ea typeface="Microsoft YaHei"/>
                  <a:cs typeface="Arial"/>
                </a:rPr>
                <a:t>产出：模型结果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05400" y="3810000"/>
              <a:ext cx="1066800" cy="247650"/>
            </a:xfrm>
            <a:prstGeom prst="rect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49258" y="3877628"/>
              <a:ext cx="779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CORE STEP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10400" y="2152650"/>
            <a:ext cx="1689354" cy="1981200"/>
            <a:chOff x="7010400" y="2152650"/>
            <a:chExt cx="1689354" cy="1981200"/>
          </a:xfrm>
        </p:grpSpPr>
        <p:sp>
          <p:nvSpPr>
            <p:cNvPr id="30" name="Rectangle 30"/>
            <p:cNvSpPr/>
            <p:nvPr/>
          </p:nvSpPr>
          <p:spPr>
            <a:xfrm>
              <a:off x="7010400" y="2152650"/>
              <a:ext cx="1657350" cy="1981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143750" y="2286000"/>
              <a:ext cx="342900" cy="342900"/>
            </a:xfrm>
            <a:prstGeom prst="ellipse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32123" y="24107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29856" y="27774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评估对照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32142" y="3188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输入：指标与基线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142" y="3492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产出：统计比较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44000" y="2152650"/>
            <a:ext cx="2438400" cy="1981200"/>
            <a:chOff x="9144000" y="2152650"/>
            <a:chExt cx="2438400" cy="1981200"/>
          </a:xfrm>
        </p:grpSpPr>
        <p:sp>
          <p:nvSpPr>
            <p:cNvPr id="37" name="Rectangle 37"/>
            <p:cNvSpPr/>
            <p:nvPr/>
          </p:nvSpPr>
          <p:spPr>
            <a:xfrm>
              <a:off x="9144000" y="2152650"/>
              <a:ext cx="2438400" cy="1981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277350" y="2286000"/>
              <a:ext cx="342900" cy="34290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61836" y="24107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23B5D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63456" y="277749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解释与复现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5742" y="3188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输入：误差与边界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5742" y="34928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产出：可复现结论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4762500"/>
            <a:ext cx="10972800" cy="895350"/>
            <a:chOff x="609600" y="4762500"/>
            <a:chExt cx="10972800" cy="895350"/>
          </a:xfrm>
        </p:grpSpPr>
        <p:sp>
          <p:nvSpPr>
            <p:cNvPr id="44" name="Rectangle 44"/>
            <p:cNvSpPr/>
            <p:nvPr/>
          </p:nvSpPr>
          <p:spPr>
            <a:xfrm>
              <a:off x="609600" y="4762500"/>
              <a:ext cx="10972800" cy="8953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9442" y="49977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复现性提示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442" y="5302568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在备注或附录中记录数据版本、随机种子、硬件环境、核心参数与停止准则。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51" name="Rectangle 51"/>
            <p:cNvSpPr/>
            <p:nvPr/>
          </p:nvSpPr>
          <p:spPr>
            <a:xfrm>
              <a:off x="0" y="0"/>
              <a:ext cx="12192000" cy="12954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6998" y="364808"/>
              <a:ext cx="3325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方法与实验流程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6904" y="87058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每一步同时给出输入、动作与可检验产出</a:t>
              </a:r>
            </a:p>
          </p:txBody>
        </p:sp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58" name="Line 58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61" name="图片 60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40AC49FF-9451-8EC5-177B-61525B4DB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954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1249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表 1. 主要结果对比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学术三线表 · 数值列右对齐 · 最佳结果加粗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aphicFrame>
        <p:nvGraphicFramePr>
          <p:cNvPr id="11" name="results_table"/>
          <p:cNvGraphicFramePr>
            <a:graphicFrameLocks noGrp="1"/>
          </p:cNvGraphicFramePr>
          <p:nvPr/>
        </p:nvGraphicFramePr>
        <p:xfrm>
          <a:off x="609600" y="1504950"/>
          <a:ext cx="109728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评价指标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Baseline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Proposed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变化 / Δ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Primary metric ↑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0.812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0.864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2D7A5D"/>
                          </a:solidFill>
                          <a:latin typeface="Arial"/>
                          <a:ea typeface="Microsoft YaHei"/>
                        </a:rPr>
                        <a:t>+6.4%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Secondary metric ↑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0.742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0.781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2D7A5D"/>
                          </a:solidFill>
                          <a:latin typeface="Arial"/>
                          <a:ea typeface="Microsoft YaHei"/>
                        </a:rPr>
                        <a:t>+5.3%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Error ↓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0.186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0.141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2D7A5D"/>
                          </a:solidFill>
                          <a:latin typeface="Arial"/>
                          <a:ea typeface="Microsoft YaHei"/>
                        </a:rPr>
                        <a:t>−24.2%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Latency / ms ↓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38.6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31.4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2D7A5D"/>
                          </a:solidFill>
                          <a:latin typeface="Arial"/>
                          <a:ea typeface="Microsoft YaHei"/>
                        </a:rPr>
                        <a:t>−18.7%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Parameters / M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17212B"/>
                          </a:solidFill>
                          <a:latin typeface="Arial"/>
                          <a:ea typeface="Microsoft YaHei"/>
                        </a:rPr>
                        <a:t>25.1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123B5D"/>
                          </a:solidFill>
                          <a:latin typeface="Arial"/>
                          <a:ea typeface="Microsoft YaHei"/>
                        </a:rPr>
                        <a:t>24.8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>
                          <a:solidFill>
                            <a:srgbClr val="2D7A5D"/>
                          </a:solidFill>
                          <a:latin typeface="Arial"/>
                          <a:ea typeface="Microsoft YaHei"/>
                        </a:rPr>
                        <a:t>−1.2%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CBD5DE"/>
                      </a:solidFill>
                      <a:prstDash val="solid"/>
                    </a:lnL>
                    <a:lnR w="9525">
                      <a:solidFill>
                        <a:srgbClr val="CBD5DE"/>
                      </a:solidFill>
                      <a:prstDash val="solid"/>
                    </a:lnR>
                    <a:lnT w="9525">
                      <a:solidFill>
                        <a:srgbClr val="CBD5DE"/>
                      </a:solidFill>
                      <a:prstDash val="solid"/>
                    </a:lnT>
                    <a:lnB w="9525">
                      <a:solidFill>
                        <a:srgbClr val="CBD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>
            <a:off x="603504" y="5185410"/>
            <a:ext cx="5480456" cy="520446"/>
            <a:chOff x="603504" y="5185410"/>
            <a:chExt cx="5480456" cy="52044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5185410"/>
              <a:ext cx="5480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注：↑ 越大越好；↓ 越小越好。粗体表示最佳结果；均值基于 n 次独立实验。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04" y="54711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表格标题置于上方；补充说明与数据来源置于下方。</a:t>
              </a:r>
            </a:p>
          </p:txBody>
        </p:sp>
      </p:grpSp>
      <p:pic>
        <p:nvPicPr>
          <p:cNvPr id="19" name="图片 1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FCB91BDA-74AB-7D71-B952-F0A6D50C9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954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60068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图 2. 不同配置下的主要指标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499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示例数据 · Unit: % · Error bars 可按需要添加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graphicFrame>
        <p:nvGraphicFramePr>
          <p:cNvPr id="11" name="performance_chart"/>
          <p:cNvGraphicFramePr>
            <a:graphicFrameLocks noGrp="1"/>
          </p:cNvGraphicFramePr>
          <p:nvPr/>
        </p:nvGraphicFramePr>
        <p:xfrm>
          <a:off x="781050" y="1428750"/>
          <a:ext cx="10801350" cy="424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Chart Caption 12"/>
          <p:cNvSpPr txBox="1"/>
          <p:nvPr/>
        </p:nvSpPr>
        <p:spPr>
          <a:xfrm>
            <a:off x="781050" y="58102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zh-CN" sz="1200">
                <a:solidFill>
                  <a:srgbClr val="17212B"/>
                </a:solidFill>
                <a:latin typeface="Arial"/>
                <a:ea typeface="Microsoft YaHei"/>
              </a:rPr>
              <a:t>图 2. Proposed 配置在相同评估协议下取得最高指标。</a:t>
            </a:r>
          </a:p>
        </p:txBody>
      </p:sp>
      <p:sp>
        <p:nvSpPr>
          <p:cNvPr id="13" name="Chart Source 13"/>
          <p:cNvSpPr txBox="1"/>
          <p:nvPr/>
        </p:nvSpPr>
        <p:spPr>
          <a:xfrm>
            <a:off x="781050" y="60960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zh-CN" sz="1200">
                <a:solidFill>
                  <a:srgbClr val="7A8792"/>
                </a:solidFill>
                <a:latin typeface="Arial"/>
                <a:ea typeface="Microsoft YaHei"/>
              </a:rPr>
              <a:t>数据来源：示例数据；替换时同步更新单位、误差与样本量。</a:t>
            </a:r>
          </a:p>
        </p:txBody>
      </p:sp>
      <p:pic>
        <p:nvPicPr>
          <p:cNvPr id="18" name="图片 17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3A4F427D-5D8D-83B9-507A-E41D8AAE3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609600" y="1390650"/>
            <a:ext cx="4953000" cy="2190750"/>
            <a:chOff x="609600" y="1390650"/>
            <a:chExt cx="4953000" cy="2190750"/>
          </a:xfrm>
        </p:grpSpPr>
        <p:sp>
          <p:nvSpPr>
            <p:cNvPr id="2" name="Rectangle 2"/>
            <p:cNvSpPr/>
            <p:nvPr/>
          </p:nvSpPr>
          <p:spPr>
            <a:xfrm>
              <a:off x="609600" y="1390650"/>
              <a:ext cx="4953000" cy="2190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0204" y="1623060"/>
              <a:ext cx="2086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D8A546"/>
                  </a:solidFill>
                  <a:latin typeface="Arial"/>
                  <a:ea typeface="Arial"/>
                  <a:cs typeface="Arial"/>
                </a:rPr>
                <a:t>OBJECTIVE FUNCTION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390" y="2331720"/>
              <a:ext cx="40754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17212B"/>
                  </a:solidFill>
                  <a:latin typeface="Georgia"/>
                  <a:ea typeface="Georgia"/>
                  <a:cs typeface="Georgia"/>
                </a:rPr>
                <a:t>L(θ) = Ltask + λ · R(θ)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76300" y="2990850"/>
              <a:ext cx="4419600" cy="9525"/>
            </a:xfrm>
            <a:custGeom>
              <a:avLst/>
              <a:gdLst/>
              <a:ahLst/>
              <a:cxnLst/>
              <a:rect l="l" t="t" r="r" b="b"/>
              <a:pathLst>
                <a:path w="4419600" h="9525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noFill/>
            <a:ln w="9525">
              <a:solidFill>
                <a:srgbClr val="DFE5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204" y="3166110"/>
              <a:ext cx="3758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公式可替换为 SVG / EMF；不建议使用低清截图。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32932" y="1449705"/>
            <a:ext cx="5649468" cy="1870329"/>
            <a:chOff x="5932932" y="1449705"/>
            <a:chExt cx="5649468" cy="1870329"/>
          </a:xfrm>
        </p:grpSpPr>
        <p:sp>
          <p:nvSpPr>
            <p:cNvPr id="8" name="TextBox 8"/>
            <p:cNvSpPr txBox="1"/>
            <p:nvPr/>
          </p:nvSpPr>
          <p:spPr>
            <a:xfrm>
              <a:off x="5932932" y="14497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符号定义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6000750" y="2057400"/>
              <a:ext cx="152400" cy="15240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406" y="2015490"/>
              <a:ext cx="160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θ：待优化参数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000750" y="2533650"/>
              <a:ext cx="152400" cy="15240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96406" y="2491740"/>
              <a:ext cx="19174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Ltask：任务损失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000750" y="3009900"/>
              <a:ext cx="152400" cy="15240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96406" y="2967990"/>
              <a:ext cx="2310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12B"/>
                  </a:solidFill>
                  <a:latin typeface="Arial"/>
                  <a:ea typeface="Microsoft YaHei"/>
                  <a:cs typeface="Arial"/>
                </a:rPr>
                <a:t>R(θ)：正则或约束项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696450" y="1847850"/>
              <a:ext cx="1885950" cy="140970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18954" y="20421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23B5D"/>
                  </a:solidFill>
                  <a:latin typeface="Arial"/>
                  <a:ea typeface="Microsoft YaHei"/>
                  <a:cs typeface="Arial"/>
                </a:rPr>
                <a:t>排版建议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18954" y="2366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公式居中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18954" y="2632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编号右对齐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18954" y="28994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逐项解释变量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000500"/>
            <a:ext cx="10972800" cy="2000250"/>
            <a:chOff x="609600" y="4000500"/>
            <a:chExt cx="109728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609600" y="4000500"/>
              <a:ext cx="10972800" cy="200025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442" y="4197668"/>
              <a:ext cx="3451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8A546"/>
                  </a:solidFill>
                  <a:latin typeface="Consolas"/>
                  <a:ea typeface="Consolas"/>
                  <a:cs typeface="Consolas"/>
                </a:rPr>
                <a:t>Algorithm 1 Generic training procedure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442" y="4540568"/>
              <a:ext cx="415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 initialize parameters θ and reproducible seed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442" y="4845368"/>
              <a:ext cx="5008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 for each batch: compute prediction and objective L(θ)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442" y="5150168"/>
              <a:ext cx="4384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 update θ; log metric, runtime, and uncertainty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442" y="5454968"/>
              <a:ext cx="4811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 return best checkpoint under the declared criterion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48774" y="5623560"/>
              <a:ext cx="177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BD5DE"/>
                  </a:solidFill>
                  <a:latin typeface="Consolas"/>
                  <a:ea typeface="Consolas"/>
                  <a:cs typeface="Consolas"/>
                </a:rPr>
                <a:t>18px · 1.6 line spacing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2" name="Rectangle 32"/>
            <p:cNvSpPr/>
            <p:nvPr/>
          </p:nvSpPr>
          <p:spPr>
            <a:xfrm>
              <a:off x="0" y="0"/>
              <a:ext cx="12192000" cy="12954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6998" y="3648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公式、符号与代码块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904" y="870585"/>
              <a:ext cx="2965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EQUATION · NOTATION · PSEUDOCODE</a:t>
              </a:r>
            </a:p>
          </p:txBody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39" name="Line 3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42" name="图片 41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15140AA8-57CB-D8C2-BB16-D4C4DAB15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>
            <a:off x="609600" y="1257300"/>
            <a:ext cx="10972800" cy="4610100"/>
            <a:chOff x="609600" y="1257300"/>
            <a:chExt cx="10972800" cy="4610100"/>
          </a:xfrm>
        </p:grpSpPr>
        <p:sp>
          <p:nvSpPr>
            <p:cNvPr id="2" name="Rectangle 2"/>
            <p:cNvSpPr/>
            <p:nvPr/>
          </p:nvSpPr>
          <p:spPr>
            <a:xfrm>
              <a:off x="609600" y="1257300"/>
              <a:ext cx="10972800" cy="4610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3732" y="1468755"/>
              <a:ext cx="41927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待评审页面 / 图表 / 论文截图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914400" y="1981200"/>
              <a:ext cx="6724650" cy="3333750"/>
            </a:xfrm>
            <a:prstGeom prst="rect">
              <a:avLst/>
            </a:prstGeom>
            <a:solidFill>
              <a:srgbClr val="EEF2F6"/>
            </a:solidFill>
            <a:ln w="19050">
              <a:solidFill>
                <a:srgbClr val="5F8AA8"/>
              </a:solidFill>
              <a:prstDash val="lgDash"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3952875" y="3143250"/>
              <a:ext cx="571500" cy="571499"/>
              <a:chOff x="3952875" y="3143250"/>
              <a:chExt cx="571500" cy="57149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4333875" y="3302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17" y="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3952875" y="3143250"/>
                <a:ext cx="571499" cy="571499"/>
              </a:xfrm>
              <a:custGeom>
                <a:avLst/>
                <a:gdLst/>
                <a:ahLst/>
                <a:cxnLst/>
                <a:rect l="l" t="t" r="r" b="b"/>
                <a:pathLst>
                  <a:path w="571499" h="571499">
                    <a:moveTo>
                      <a:pt x="0" y="95250"/>
                    </a:moveTo>
                    <a:cubicBezTo>
                      <a:pt x="0" y="42645"/>
                      <a:pt x="42645" y="0"/>
                      <a:pt x="95250" y="0"/>
                    </a:cubicBezTo>
                    <a:lnTo>
                      <a:pt x="476250" y="0"/>
                    </a:lnTo>
                    <a:cubicBezTo>
                      <a:pt x="528855" y="0"/>
                      <a:pt x="571499" y="42645"/>
                      <a:pt x="571499" y="95250"/>
                    </a:cubicBezTo>
                    <a:lnTo>
                      <a:pt x="571499" y="476250"/>
                    </a:lnTo>
                    <a:cubicBezTo>
                      <a:pt x="571499" y="528855"/>
                      <a:pt x="528855" y="571499"/>
                      <a:pt x="476250" y="571499"/>
                    </a:cubicBezTo>
                    <a:lnTo>
                      <a:pt x="95250" y="571499"/>
                    </a:lnTo>
                    <a:cubicBezTo>
                      <a:pt x="42645" y="571499"/>
                      <a:pt x="0" y="528855"/>
                      <a:pt x="0" y="476250"/>
                    </a:cubicBez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952875" y="3368897"/>
                <a:ext cx="412750" cy="187103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187103">
                    <a:moveTo>
                      <a:pt x="0" y="187103"/>
                    </a:moveTo>
                    <a:lnTo>
                      <a:pt x="158750" y="28353"/>
                    </a:lnTo>
                    <a:cubicBezTo>
                      <a:pt x="188214" y="0"/>
                      <a:pt x="224536" y="0"/>
                      <a:pt x="254000" y="28353"/>
                    </a:cubicBezTo>
                    <a:lnTo>
                      <a:pt x="412750" y="187103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302125" y="3432397"/>
                <a:ext cx="222250" cy="123603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3603">
                    <a:moveTo>
                      <a:pt x="0" y="60103"/>
                    </a:moveTo>
                    <a:lnTo>
                      <a:pt x="31750" y="28353"/>
                    </a:lnTo>
                    <a:cubicBezTo>
                      <a:pt x="61214" y="0"/>
                      <a:pt x="97536" y="0"/>
                      <a:pt x="127000" y="28353"/>
                    </a:cubicBezTo>
                    <a:lnTo>
                      <a:pt x="222250" y="123603"/>
                    </a:lnTo>
                  </a:path>
                </a:pathLst>
              </a:custGeom>
              <a:noFill/>
              <a:ln w="19050">
                <a:solidFill>
                  <a:srgbClr val="5F8AA8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3542919" y="4026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替换为待讨论材料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9006" y="20535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讨论记录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058150" y="24574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9525">
              <a:solidFill>
                <a:srgbClr val="DFE5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51292" y="274986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• 结论是否由证据支持？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51292" y="311181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• 是否存在替代解释？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51292" y="34737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• 下一步如何验证？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48100" y="1872317"/>
            <a:ext cx="5671902" cy="1842433"/>
            <a:chOff x="3848100" y="1872317"/>
            <a:chExt cx="5671902" cy="1842433"/>
          </a:xfrm>
        </p:grpSpPr>
        <p:sp>
          <p:nvSpPr>
            <p:cNvPr id="17" name="Freeform 17"/>
            <p:cNvSpPr/>
            <p:nvPr/>
          </p:nvSpPr>
          <p:spPr>
            <a:xfrm>
              <a:off x="5715000" y="2190750"/>
              <a:ext cx="1352550" cy="476250"/>
            </a:xfrm>
            <a:custGeom>
              <a:avLst/>
              <a:gdLst/>
              <a:ahLst/>
              <a:cxnLst/>
              <a:rect l="l" t="t" r="r" b="b"/>
              <a:pathLst>
                <a:path w="1352550" h="476250">
                  <a:moveTo>
                    <a:pt x="1352550" y="171450"/>
                  </a:moveTo>
                  <a:cubicBezTo>
                    <a:pt x="781050" y="0"/>
                    <a:pt x="400050" y="95250"/>
                    <a:pt x="0" y="476250"/>
                  </a:cubicBezTo>
                </a:path>
              </a:pathLst>
            </a:custGeom>
            <a:noFill/>
            <a:ln w="28575">
              <a:solidFill>
                <a:srgbClr val="A64A45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848100" y="2419350"/>
              <a:ext cx="2209800" cy="1295400"/>
            </a:xfrm>
            <a:prstGeom prst="ellipse">
              <a:avLst/>
            </a:prstGeom>
            <a:noFill/>
            <a:ln w="28575">
              <a:solidFill>
                <a:srgbClr val="A64A45"/>
              </a:solidFill>
              <a:prstDash val="lgDash"/>
            </a:ln>
          </p:spPr>
        </p:sp>
        <p:sp>
          <p:nvSpPr>
            <p:cNvPr id="19" name="TextBox 19"/>
            <p:cNvSpPr txBox="1"/>
            <p:nvPr/>
          </p:nvSpPr>
          <p:spPr>
            <a:xfrm rot="-180000">
              <a:off x="6941394" y="1872317"/>
              <a:ext cx="2578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64A45"/>
                  </a:solidFill>
                  <a:latin typeface="cursive"/>
                  <a:ea typeface="KaiTi"/>
                  <a:cs typeface="cursive"/>
                </a:rPr>
                <a:t>这里的因果证据够吗？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53300" y="4362450"/>
            <a:ext cx="4397467" cy="749300"/>
            <a:chOff x="7353300" y="4362450"/>
            <a:chExt cx="4397467" cy="749300"/>
          </a:xfrm>
        </p:grpSpPr>
        <p:sp>
          <p:nvSpPr>
            <p:cNvPr id="21" name="Freeform 21"/>
            <p:cNvSpPr/>
            <p:nvPr/>
          </p:nvSpPr>
          <p:spPr>
            <a:xfrm>
              <a:off x="7353300" y="4362450"/>
              <a:ext cx="1676400" cy="304800"/>
            </a:xfrm>
            <a:custGeom>
              <a:avLst/>
              <a:gdLst/>
              <a:ahLst/>
              <a:cxnLst/>
              <a:rect l="l" t="t" r="r" b="b"/>
              <a:pathLst>
                <a:path w="1676400" h="304800">
                  <a:moveTo>
                    <a:pt x="1676400" y="304800"/>
                  </a:moveTo>
                  <a:cubicBezTo>
                    <a:pt x="1257300" y="38100"/>
                    <a:pt x="704850" y="0"/>
                    <a:pt x="0" y="133350"/>
                  </a:cubicBezTo>
                </a:path>
              </a:pathLst>
            </a:custGeom>
            <a:noFill/>
            <a:ln w="28575">
              <a:solidFill>
                <a:srgbClr val="D8A546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 rot="180000">
              <a:off x="9172159" y="4730463"/>
              <a:ext cx="2578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23B5D"/>
                  </a:solidFill>
                  <a:latin typeface="cursive"/>
                  <a:ea typeface="KaiTi"/>
                  <a:cs typeface="cursive"/>
                </a:rPr>
                <a:t>建议补充一组消融对照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124950" y="4933950"/>
              <a:ext cx="2133600" cy="177800"/>
            </a:xfrm>
            <a:custGeom>
              <a:avLst/>
              <a:gdLst/>
              <a:ahLst/>
              <a:cxnLst/>
              <a:rect l="l" t="t" r="r" b="b"/>
              <a:pathLst>
                <a:path w="2133600" h="177800">
                  <a:moveTo>
                    <a:pt x="0" y="38100"/>
                  </a:moveTo>
                  <a:cubicBezTo>
                    <a:pt x="711200" y="177800"/>
                    <a:pt x="1422400" y="165100"/>
                    <a:pt x="2133600" y="0"/>
                  </a:cubicBezTo>
                </a:path>
              </a:pathLst>
            </a:custGeom>
            <a:noFill/>
            <a:ln w="28575">
              <a:solidFill>
                <a:srgbClr val="D8A546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3504" y="6061710"/>
            <a:ext cx="56904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A8792"/>
                </a:solidFill>
                <a:latin typeface="Arial"/>
                <a:ea typeface="Microsoft YaHei"/>
                <a:cs typeface="Arial"/>
              </a:rPr>
              <a:t>批注原则：只标问题与动作，不写长段落；保留原文可读性；每页不超过 2 条。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52450" y="3238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28650" y="3810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27760" y="304800"/>
              <a:ext cx="45110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评审、讨论与手写批注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6904" y="784860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REVIEW LAYER</a:t>
              </a:r>
            </a:p>
          </p:txBody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190500"/>
              <a:ext cx="514350" cy="514350"/>
            </a:xfrm>
            <a:prstGeom prst="rect">
              <a:avLst/>
            </a:prstGeom>
          </p:spPr>
        </p:pic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276225"/>
              <a:ext cx="1543050" cy="533400"/>
            </a:xfrm>
            <a:prstGeom prst="rect">
              <a:avLst/>
            </a:prstGeom>
          </p:spPr>
        </p:pic>
        <p:sp>
          <p:nvSpPr>
            <p:cNvPr id="36" name="Line 36"/>
            <p:cNvSpPr/>
            <p:nvPr/>
          </p:nvSpPr>
          <p:spPr>
            <a:xfrm>
              <a:off x="609600" y="1085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94C5D614-2D29-6FA8-6DB3-05D1D61C30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600456" y="1272540"/>
            <a:ext cx="4429797" cy="3252216"/>
            <a:chOff x="600456" y="1272540"/>
            <a:chExt cx="4429797" cy="3252216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1272540"/>
              <a:ext cx="2366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References 01–04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3504" y="18135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[1]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7354" y="1813560"/>
              <a:ext cx="3645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Author, A., Author, B. (2026). Article title.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27354" y="2061210"/>
              <a:ext cx="3996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Journal Name, 12(3), 100–118. doi:xx.xxxx/xxxxx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3504" y="25565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[2]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7354" y="2556510"/>
              <a:ext cx="3983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Author, C. et al. (2025). Conference paper title.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7354" y="2804160"/>
              <a:ext cx="30224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Proceedings of Conference, pp. 1–12.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504" y="32994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[3]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7354" y="3299460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作者甲，作者乙（2024）。中文论文标题。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7354" y="3547110"/>
              <a:ext cx="2031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期刊名称，10(2)，20–36。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504" y="40424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[4]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7354" y="4042410"/>
              <a:ext cx="4102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Organization (2026). Dataset / Standard / Report.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7354" y="4290060"/>
              <a:ext cx="2748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Version, repository, access date.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77356" y="1272540"/>
            <a:ext cx="3995889" cy="3252216"/>
            <a:chOff x="6277356" y="1272540"/>
            <a:chExt cx="3995889" cy="3252216"/>
          </a:xfrm>
        </p:grpSpPr>
        <p:sp>
          <p:nvSpPr>
            <p:cNvPr id="16" name="TextBox 16"/>
            <p:cNvSpPr txBox="1"/>
            <p:nvPr/>
          </p:nvSpPr>
          <p:spPr>
            <a:xfrm>
              <a:off x="6277356" y="1272540"/>
              <a:ext cx="2366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References 05–08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0404" y="18135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[5]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04254" y="1813560"/>
              <a:ext cx="3354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Author, D. (2023). Book or chapter title.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4254" y="2061210"/>
              <a:ext cx="2252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Publisher, City. ISBN: xxxx.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404" y="25565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[6]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04254" y="2556510"/>
              <a:ext cx="3274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Author, E. et al. (2026). Preprint title.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4254" y="2804160"/>
              <a:ext cx="2344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arXiv:xxxx.xxxxx, version 2.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0404" y="32994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[7]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04254" y="3299460"/>
              <a:ext cx="32008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Software Team (2026). Software name.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4254" y="3547110"/>
              <a:ext cx="3668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Version x.x, source repository, commit hash.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404" y="40424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212B"/>
                  </a:solidFill>
                  <a:latin typeface="Arial"/>
                  <a:ea typeface="Arial"/>
                  <a:cs typeface="Arial"/>
                </a:rPr>
                <a:t>[8]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4254" y="4042410"/>
              <a:ext cx="3547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Author, F. (2025). Supplementary material.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04254" y="4290060"/>
              <a:ext cx="2839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Persistent URL / DOI / archive link.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953000"/>
            <a:ext cx="10972800" cy="990600"/>
            <a:chOff x="609600" y="4953000"/>
            <a:chExt cx="10972800" cy="990600"/>
          </a:xfrm>
        </p:grpSpPr>
        <p:sp>
          <p:nvSpPr>
            <p:cNvPr id="30" name="Rectangle 30"/>
            <p:cNvSpPr/>
            <p:nvPr/>
          </p:nvSpPr>
          <p:spPr>
            <a:xfrm>
              <a:off x="609600" y="4953000"/>
              <a:ext cx="10972800" cy="99060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9056" y="5120640"/>
              <a:ext cx="11638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Appendix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83892" y="5169218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A. 额外实验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88892" y="5169218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B. 参数设置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93892" y="5169218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C. 误差分析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98892" y="5169218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D. 伦理与许可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104" y="5547360"/>
              <a:ext cx="4774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格式建议：APA / IEEE / GB/T 7714 任选其一，全篇保持一致。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552450" y="3238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28650" y="3810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7760" y="304800"/>
              <a:ext cx="4062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参考文献与附录索引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6904" y="784860"/>
              <a:ext cx="1855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REFERENCES · APPENDIX</a:t>
              </a:r>
            </a:p>
          </p:txBody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190500"/>
              <a:ext cx="514350" cy="514350"/>
            </a:xfrm>
            <a:prstGeom prst="rect">
              <a:avLst/>
            </a:prstGeom>
          </p:spPr>
        </p:pic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276225"/>
              <a:ext cx="1543050" cy="533400"/>
            </a:xfrm>
            <a:prstGeom prst="rect">
              <a:avLst/>
            </a:prstGeom>
          </p:spPr>
        </p:pic>
        <p:sp>
          <p:nvSpPr>
            <p:cNvPr id="48" name="Line 48"/>
            <p:cNvSpPr/>
            <p:nvPr/>
          </p:nvSpPr>
          <p:spPr>
            <a:xfrm>
              <a:off x="609600" y="1085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51" name="图片 50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FC2158CD-BB23-37D8-222B-B79A14520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283891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研究背景与动机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44900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BACKGROUND &amp; MOTIVATION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2E8D2E0-B219-8DB9-E2E2-D78182893D16}"/>
              </a:ext>
            </a:extLst>
          </p:cNvPr>
          <p:cNvSpPr txBox="1"/>
          <p:nvPr/>
        </p:nvSpPr>
        <p:spPr>
          <a:xfrm>
            <a:off x="609600" y="1422400"/>
            <a:ext cx="7493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趋势证据：问题规模如何变化？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81A0AD9-458E-6BFB-4A33-80E886B2386B}"/>
              </a:ext>
            </a:extLst>
          </p:cNvPr>
          <p:cNvCxnSpPr/>
          <p:nvPr/>
        </p:nvCxnSpPr>
        <p:spPr>
          <a:xfrm>
            <a:off x="609600" y="1739900"/>
            <a:ext cx="74930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C9B99E0-58D2-0C65-B224-84C9D9BE7FA2}"/>
              </a:ext>
            </a:extLst>
          </p:cNvPr>
          <p:cNvCxnSpPr/>
          <p:nvPr/>
        </p:nvCxnSpPr>
        <p:spPr>
          <a:xfrm>
            <a:off x="863600" y="2159000"/>
            <a:ext cx="0" cy="317500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7E28D17-76A3-FBAE-4793-8C447EF91B57}"/>
              </a:ext>
            </a:extLst>
          </p:cNvPr>
          <p:cNvCxnSpPr/>
          <p:nvPr/>
        </p:nvCxnSpPr>
        <p:spPr>
          <a:xfrm>
            <a:off x="863600" y="5334000"/>
            <a:ext cx="6921500" cy="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E8B03F8-76FA-6E4A-14F3-9BC57FBBDFFF}"/>
              </a:ext>
            </a:extLst>
          </p:cNvPr>
          <p:cNvCxnSpPr/>
          <p:nvPr/>
        </p:nvCxnSpPr>
        <p:spPr>
          <a:xfrm>
            <a:off x="863600" y="4540250"/>
            <a:ext cx="69215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212ACE3-45A7-D182-DF03-ED8E08098167}"/>
              </a:ext>
            </a:extLst>
          </p:cNvPr>
          <p:cNvCxnSpPr/>
          <p:nvPr/>
        </p:nvCxnSpPr>
        <p:spPr>
          <a:xfrm>
            <a:off x="863600" y="3746500"/>
            <a:ext cx="69215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EC2A92C-4579-9E40-1164-A17F16E6C0C0}"/>
              </a:ext>
            </a:extLst>
          </p:cNvPr>
          <p:cNvCxnSpPr/>
          <p:nvPr/>
        </p:nvCxnSpPr>
        <p:spPr>
          <a:xfrm>
            <a:off x="863600" y="2952750"/>
            <a:ext cx="69215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048978A-4938-8723-1FFE-1580DC471894}"/>
              </a:ext>
            </a:extLst>
          </p:cNvPr>
          <p:cNvCxnSpPr/>
          <p:nvPr/>
        </p:nvCxnSpPr>
        <p:spPr>
          <a:xfrm>
            <a:off x="863600" y="2159000"/>
            <a:ext cx="69215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4FCA7ED-BFD8-991A-808F-A6F8A3F09E14}"/>
              </a:ext>
            </a:extLst>
          </p:cNvPr>
          <p:cNvSpPr txBox="1"/>
          <p:nvPr/>
        </p:nvSpPr>
        <p:spPr>
          <a:xfrm>
            <a:off x="6515100" y="5422900"/>
            <a:ext cx="127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时间 </a:t>
            </a:r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阶段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39881AB-BF2A-F4C9-65B7-CC1615E6BD11}"/>
              </a:ext>
            </a:extLst>
          </p:cNvPr>
          <p:cNvSpPr txBox="1"/>
          <p:nvPr/>
        </p:nvSpPr>
        <p:spPr>
          <a:xfrm>
            <a:off x="812800" y="19304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规模 </a:t>
            </a:r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指标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3099C1F-85EF-8851-0384-24D982D6E1EA}"/>
              </a:ext>
            </a:extLst>
          </p:cNvPr>
          <p:cNvCxnSpPr/>
          <p:nvPr/>
        </p:nvCxnSpPr>
        <p:spPr>
          <a:xfrm flipV="1">
            <a:off x="863600" y="4826000"/>
            <a:ext cx="1041400" cy="254000"/>
          </a:xfrm>
          <a:prstGeom prst="line">
            <a:avLst/>
          </a:prstGeom>
          <a:ln w="3810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4B69C56-BF28-BE10-0960-CD362B68340D}"/>
              </a:ext>
            </a:extLst>
          </p:cNvPr>
          <p:cNvCxnSpPr/>
          <p:nvPr/>
        </p:nvCxnSpPr>
        <p:spPr>
          <a:xfrm flipV="1">
            <a:off x="1905000" y="4381500"/>
            <a:ext cx="1041400" cy="444500"/>
          </a:xfrm>
          <a:prstGeom prst="line">
            <a:avLst/>
          </a:prstGeom>
          <a:ln w="3810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0D5429F-2392-3016-DF7B-673754F863D0}"/>
              </a:ext>
            </a:extLst>
          </p:cNvPr>
          <p:cNvCxnSpPr/>
          <p:nvPr/>
        </p:nvCxnSpPr>
        <p:spPr>
          <a:xfrm flipV="1">
            <a:off x="2946400" y="4127500"/>
            <a:ext cx="1041400" cy="254000"/>
          </a:xfrm>
          <a:prstGeom prst="line">
            <a:avLst/>
          </a:prstGeom>
          <a:ln w="3810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8921D70-9DBB-FA0F-D7BA-36047B7E3790}"/>
              </a:ext>
            </a:extLst>
          </p:cNvPr>
          <p:cNvCxnSpPr/>
          <p:nvPr/>
        </p:nvCxnSpPr>
        <p:spPr>
          <a:xfrm flipV="1">
            <a:off x="3987800" y="3492500"/>
            <a:ext cx="1041400" cy="635000"/>
          </a:xfrm>
          <a:prstGeom prst="line">
            <a:avLst/>
          </a:prstGeom>
          <a:ln w="3810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DBCCBE5-B523-B884-4037-51590E5659AF}"/>
              </a:ext>
            </a:extLst>
          </p:cNvPr>
          <p:cNvCxnSpPr/>
          <p:nvPr/>
        </p:nvCxnSpPr>
        <p:spPr>
          <a:xfrm flipV="1">
            <a:off x="5029200" y="2984500"/>
            <a:ext cx="1041400" cy="508000"/>
          </a:xfrm>
          <a:prstGeom prst="line">
            <a:avLst/>
          </a:prstGeom>
          <a:ln w="3810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E08223C-92F0-FB89-8B29-827B69BE8EDB}"/>
              </a:ext>
            </a:extLst>
          </p:cNvPr>
          <p:cNvCxnSpPr/>
          <p:nvPr/>
        </p:nvCxnSpPr>
        <p:spPr>
          <a:xfrm flipV="1">
            <a:off x="6070600" y="2413000"/>
            <a:ext cx="1714500" cy="571500"/>
          </a:xfrm>
          <a:prstGeom prst="line">
            <a:avLst/>
          </a:prstGeom>
          <a:ln w="3810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592A426E-5DD4-38C4-496A-C30BAC075F6E}"/>
              </a:ext>
            </a:extLst>
          </p:cNvPr>
          <p:cNvSpPr/>
          <p:nvPr/>
        </p:nvSpPr>
        <p:spPr>
          <a:xfrm>
            <a:off x="812800" y="50292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C58F9FB-7265-A507-E42C-53D62ACE1B79}"/>
              </a:ext>
            </a:extLst>
          </p:cNvPr>
          <p:cNvSpPr/>
          <p:nvPr/>
        </p:nvSpPr>
        <p:spPr>
          <a:xfrm>
            <a:off x="1854200" y="47752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21A45F29-69CF-0CD1-50CE-25C1347FB5B1}"/>
              </a:ext>
            </a:extLst>
          </p:cNvPr>
          <p:cNvSpPr/>
          <p:nvPr/>
        </p:nvSpPr>
        <p:spPr>
          <a:xfrm>
            <a:off x="2895600" y="43307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A240395C-69B5-B6FD-8F36-5DEE21B1D480}"/>
              </a:ext>
            </a:extLst>
          </p:cNvPr>
          <p:cNvSpPr/>
          <p:nvPr/>
        </p:nvSpPr>
        <p:spPr>
          <a:xfrm>
            <a:off x="3937000" y="40767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817CDD72-B782-17B2-F353-D2F92DA0A3B9}"/>
              </a:ext>
            </a:extLst>
          </p:cNvPr>
          <p:cNvSpPr/>
          <p:nvPr/>
        </p:nvSpPr>
        <p:spPr>
          <a:xfrm>
            <a:off x="4978400" y="34417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139BE1A-0FFF-E972-2790-2F6584498737}"/>
              </a:ext>
            </a:extLst>
          </p:cNvPr>
          <p:cNvSpPr/>
          <p:nvPr/>
        </p:nvSpPr>
        <p:spPr>
          <a:xfrm>
            <a:off x="6019800" y="29337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73532943-399E-2379-7494-A0DC7B7F8313}"/>
              </a:ext>
            </a:extLst>
          </p:cNvPr>
          <p:cNvSpPr/>
          <p:nvPr/>
        </p:nvSpPr>
        <p:spPr>
          <a:xfrm>
            <a:off x="7734300" y="2362200"/>
            <a:ext cx="101600" cy="1016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024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744D7C3-957F-8481-39D4-1B47987B61CB}"/>
              </a:ext>
            </a:extLst>
          </p:cNvPr>
          <p:cNvSpPr txBox="1"/>
          <p:nvPr/>
        </p:nvSpPr>
        <p:spPr>
          <a:xfrm>
            <a:off x="4851400" y="2235200"/>
            <a:ext cx="266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zh-CN" altLang="en-US" sz="11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示例趋势：持续上升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96BD69F-5AE2-528E-FECD-FBEECC77F33E}"/>
              </a:ext>
            </a:extLst>
          </p:cNvPr>
          <p:cNvSpPr/>
          <p:nvPr/>
        </p:nvSpPr>
        <p:spPr>
          <a:xfrm>
            <a:off x="8382000" y="1422400"/>
            <a:ext cx="3200400" cy="14986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D3CE86A-36A7-8643-94D7-F82B4F66A41A}"/>
              </a:ext>
            </a:extLst>
          </p:cNvPr>
          <p:cNvSpPr txBox="1"/>
          <p:nvPr/>
        </p:nvSpPr>
        <p:spPr>
          <a:xfrm>
            <a:off x="8636000" y="1625600"/>
            <a:ext cx="2603500" cy="51039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3150" b="1">
                <a:solidFill>
                  <a:srgbClr val="FFFFF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3.2×</a:t>
            </a:r>
            <a:endParaRPr lang="zh-CN" altLang="en-US" sz="3150" b="1">
              <a:solidFill>
                <a:srgbClr val="FFFFF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48158FE-D35F-A381-0249-F01F21C56D43}"/>
              </a:ext>
            </a:extLst>
          </p:cNvPr>
          <p:cNvSpPr txBox="1"/>
          <p:nvPr/>
        </p:nvSpPr>
        <p:spPr>
          <a:xfrm>
            <a:off x="8636000" y="2209800"/>
            <a:ext cx="26035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关键规模数字（示例）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C0752B4-17E5-8494-A784-88CF5F3676CF}"/>
              </a:ext>
            </a:extLst>
          </p:cNvPr>
          <p:cNvSpPr/>
          <p:nvPr/>
        </p:nvSpPr>
        <p:spPr>
          <a:xfrm>
            <a:off x="8382000" y="3124200"/>
            <a:ext cx="3200400" cy="2209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7E0D97A5-CB0A-F405-793D-9026F8433D02}"/>
              </a:ext>
            </a:extLst>
          </p:cNvPr>
          <p:cNvSpPr/>
          <p:nvPr/>
        </p:nvSpPr>
        <p:spPr>
          <a:xfrm>
            <a:off x="8636000" y="3352800"/>
            <a:ext cx="914400" cy="254000"/>
          </a:xfrm>
          <a:prstGeom prst="round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71C929E-307D-7633-A02C-6D79663C3760}"/>
              </a:ext>
            </a:extLst>
          </p:cNvPr>
          <p:cNvSpPr txBox="1"/>
          <p:nvPr/>
        </p:nvSpPr>
        <p:spPr>
          <a:xfrm>
            <a:off x="8674100" y="3435908"/>
            <a:ext cx="838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WHY NOW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3A6E1C2-A0F6-B4E7-7F32-9A556F885368}"/>
              </a:ext>
            </a:extLst>
          </p:cNvPr>
          <p:cNvSpPr txBox="1"/>
          <p:nvPr/>
        </p:nvSpPr>
        <p:spPr>
          <a:xfrm>
            <a:off x="8636000" y="3784600"/>
            <a:ext cx="26035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现实影响对象</a:t>
            </a:r>
          </a:p>
          <a:p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研究空白与窗口期</a:t>
            </a:r>
          </a:p>
          <a:p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关键证据与来源 </a:t>
            </a:r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[1]</a:t>
            </a:r>
            <a:endParaRPr lang="zh-CN" altLang="en-US" sz="1400">
              <a:solidFill>
                <a:srgbClr val="1721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4142278-504B-51E9-BB53-7CCC9A71F73C}"/>
              </a:ext>
            </a:extLst>
          </p:cNvPr>
          <p:cNvSpPr txBox="1"/>
          <p:nvPr/>
        </p:nvSpPr>
        <p:spPr>
          <a:xfrm>
            <a:off x="609600" y="5702300"/>
            <a:ext cx="10972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[1] Author, Journal, Year. DOI / URL</a:t>
            </a:r>
            <a:endParaRPr lang="zh-CN" altLang="en-US" sz="105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190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24447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相关工作分类矩阵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33243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RELATED WORK TAXONOMY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6AD703FE-86E7-3350-9002-BE725FE86EC1}"/>
              </a:ext>
            </a:extLst>
          </p:cNvPr>
          <p:cNvSpPr txBox="1"/>
          <p:nvPr/>
        </p:nvSpPr>
        <p:spPr>
          <a:xfrm>
            <a:off x="609600" y="1422400"/>
            <a:ext cx="10972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从“文献清单”升级为可比较的研究版图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D444D83-C971-9B29-1494-F714781A43B3}"/>
              </a:ext>
            </a:extLst>
          </p:cNvPr>
          <p:cNvCxnSpPr/>
          <p:nvPr/>
        </p:nvCxnSpPr>
        <p:spPr>
          <a:xfrm>
            <a:off x="609600" y="1739900"/>
            <a:ext cx="109728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141E72BA-80F3-FDB0-AE58-A2ED95E61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659484"/>
              </p:ext>
            </p:extLst>
          </p:nvPr>
        </p:nvGraphicFramePr>
        <p:xfrm>
          <a:off x="609600" y="1955800"/>
          <a:ext cx="10972801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402003542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74810808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49909470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11960059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74132818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2008767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848295258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方法家族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数据 </a:t>
                      </a:r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场景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关键假设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评价方式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主要优势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已知局限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本文定位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72126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Family A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Dataset / Context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Assumption 1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Metric set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Strength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Limitation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借鉴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49353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Family B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Dataset / Context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Assumption 2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Protocol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Strength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Limitation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改进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5845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Family C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Dataset / Context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Assumption 3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Evidence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Strength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Limitation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对照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769728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Our Position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可替换占位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边界条件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统一协议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核心差异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待验证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●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26850"/>
                  </a:ext>
                </a:extLst>
              </a:tr>
            </a:tbl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B3D49B4E-ECB5-85DC-25DB-E1E64613448D}"/>
              </a:ext>
            </a:extLst>
          </p:cNvPr>
          <p:cNvSpPr/>
          <p:nvPr/>
        </p:nvSpPr>
        <p:spPr>
          <a:xfrm>
            <a:off x="609600" y="5435600"/>
            <a:ext cx="10972800" cy="5080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9C26A78-FF27-A9B6-D82D-80D414CFBE4B}"/>
              </a:ext>
            </a:extLst>
          </p:cNvPr>
          <p:cNvSpPr txBox="1"/>
          <p:nvPr/>
        </p:nvSpPr>
        <p:spPr>
          <a:xfrm>
            <a:off x="787400" y="5575300"/>
            <a:ext cx="10617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脚注规则：代表性文献使用 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[1–3]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；说明检索库、检索式与截止日期；“本文定位”只写可验证差异。</a:t>
            </a:r>
          </a:p>
        </p:txBody>
      </p:sp>
    </p:spTree>
    <p:extLst>
      <p:ext uri="{BB962C8B-B14F-4D97-AF65-F5344CB8AC3E}">
        <p14:creationId xmlns:p14="http://schemas.microsoft.com/office/powerpoint/2010/main" val="276277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24447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研究问题与假设树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34226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RESEARCH QUESTIONS &amp; HYPOTHESES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8F120008-5528-F4F0-3C66-CF2469599F82}"/>
              </a:ext>
            </a:extLst>
          </p:cNvPr>
          <p:cNvSpPr txBox="1"/>
          <p:nvPr/>
        </p:nvSpPr>
        <p:spPr>
          <a:xfrm>
            <a:off x="609600" y="1524000"/>
            <a:ext cx="8636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21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从一个明确的问题，推导出可检验、可反驳的假设。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4E527DB-D78C-435B-CBAC-A86B75CDAF26}"/>
              </a:ext>
            </a:extLst>
          </p:cNvPr>
          <p:cNvSpPr/>
          <p:nvPr/>
        </p:nvSpPr>
        <p:spPr>
          <a:xfrm>
            <a:off x="609600" y="2235200"/>
            <a:ext cx="558800" cy="254000"/>
          </a:xfrm>
          <a:prstGeom prst="roundRect">
            <a:avLst/>
          </a:prstGeom>
          <a:solidFill>
            <a:srgbClr val="123B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18E77A-BC6D-67A8-CEB6-364888140055}"/>
              </a:ext>
            </a:extLst>
          </p:cNvPr>
          <p:cNvSpPr txBox="1"/>
          <p:nvPr/>
        </p:nvSpPr>
        <p:spPr>
          <a:xfrm>
            <a:off x="647700" y="2318308"/>
            <a:ext cx="482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RQ</a:t>
            </a:r>
            <a:endParaRPr lang="zh-CN" altLang="en-US" sz="105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56898C9-B64D-F6ED-0338-C0CB6CCE9021}"/>
              </a:ext>
            </a:extLst>
          </p:cNvPr>
          <p:cNvSpPr/>
          <p:nvPr/>
        </p:nvSpPr>
        <p:spPr>
          <a:xfrm>
            <a:off x="1371600" y="2082800"/>
            <a:ext cx="10210800" cy="736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E498505-2900-1B45-EE2A-78196CCFDDF7}"/>
              </a:ext>
            </a:extLst>
          </p:cNvPr>
          <p:cNvSpPr txBox="1"/>
          <p:nvPr/>
        </p:nvSpPr>
        <p:spPr>
          <a:xfrm>
            <a:off x="1625600" y="2298700"/>
            <a:ext cx="965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 </a:t>
            </a:r>
            <a:r>
              <a:rPr lang="en-US" altLang="zh-CN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</a:t>
            </a:r>
            <a:r>
              <a:rPr lang="en-US" altLang="zh-CN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r>
              <a:rPr lang="zh-CN" altLang="en-US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下，机制 </a:t>
            </a:r>
            <a:r>
              <a:rPr lang="en-US" altLang="zh-CN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是否以及如何影响结果 </a:t>
            </a:r>
            <a:r>
              <a:rPr lang="en-US" altLang="zh-CN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C219368-A4C1-8EE0-C5C4-E9855FAEE44F}"/>
              </a:ext>
            </a:extLst>
          </p:cNvPr>
          <p:cNvCxnSpPr/>
          <p:nvPr/>
        </p:nvCxnSpPr>
        <p:spPr>
          <a:xfrm flipH="1">
            <a:off x="2387600" y="2819400"/>
            <a:ext cx="4089400" cy="584200"/>
          </a:xfrm>
          <a:prstGeom prst="line">
            <a:avLst/>
          </a:prstGeom>
          <a:ln w="1524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E3EF21D2-E874-5407-E3FC-136549BE69E5}"/>
              </a:ext>
            </a:extLst>
          </p:cNvPr>
          <p:cNvSpPr/>
          <p:nvPr/>
        </p:nvSpPr>
        <p:spPr>
          <a:xfrm>
            <a:off x="914400" y="3403600"/>
            <a:ext cx="2946400" cy="1295400"/>
          </a:xfrm>
          <a:prstGeom prst="rect">
            <a:avLst/>
          </a:prstGeom>
          <a:solidFill>
            <a:srgbClr val="EEF2F6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BD04DD6-D1E2-42B3-F226-742B438C5444}"/>
              </a:ext>
            </a:extLst>
          </p:cNvPr>
          <p:cNvSpPr txBox="1"/>
          <p:nvPr/>
        </p:nvSpPr>
        <p:spPr>
          <a:xfrm>
            <a:off x="1117600" y="3606800"/>
            <a:ext cx="2540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·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主效应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D01E61A-C66D-C4EE-989B-B19F37A1C8C7}"/>
              </a:ext>
            </a:extLst>
          </p:cNvPr>
          <p:cNvSpPr txBox="1"/>
          <p:nvPr/>
        </p:nvSpPr>
        <p:spPr>
          <a:xfrm>
            <a:off x="1117600" y="4064000"/>
            <a:ext cx="254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的方向与幅度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05E742E-89E8-3CDB-7E7C-442D972B707C}"/>
              </a:ext>
            </a:extLst>
          </p:cNvPr>
          <p:cNvCxnSpPr/>
          <p:nvPr/>
        </p:nvCxnSpPr>
        <p:spPr>
          <a:xfrm flipH="1">
            <a:off x="6096000" y="2819400"/>
            <a:ext cx="381000" cy="584200"/>
          </a:xfrm>
          <a:prstGeom prst="line">
            <a:avLst/>
          </a:prstGeom>
          <a:ln w="1524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EFD6D52E-2702-D501-498F-D4522E592E8E}"/>
              </a:ext>
            </a:extLst>
          </p:cNvPr>
          <p:cNvSpPr/>
          <p:nvPr/>
        </p:nvSpPr>
        <p:spPr>
          <a:xfrm>
            <a:off x="4622800" y="3403600"/>
            <a:ext cx="2946400" cy="1295400"/>
          </a:xfrm>
          <a:prstGeom prst="rect">
            <a:avLst/>
          </a:prstGeom>
          <a:solidFill>
            <a:srgbClr val="EEF2F6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9ABE1B-79B5-F01A-D926-33B39E360151}"/>
              </a:ext>
            </a:extLst>
          </p:cNvPr>
          <p:cNvSpPr txBox="1"/>
          <p:nvPr/>
        </p:nvSpPr>
        <p:spPr>
          <a:xfrm>
            <a:off x="4826000" y="3606800"/>
            <a:ext cx="2540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·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中介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DE0218F-EE40-69C2-2CCC-EB02CB567B2C}"/>
              </a:ext>
            </a:extLst>
          </p:cNvPr>
          <p:cNvSpPr txBox="1"/>
          <p:nvPr/>
        </p:nvSpPr>
        <p:spPr>
          <a:xfrm>
            <a:off x="4826000" y="4064000"/>
            <a:ext cx="254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解释作用路径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09EECFD-9458-F21E-2B57-47BC6F86DE66}"/>
              </a:ext>
            </a:extLst>
          </p:cNvPr>
          <p:cNvCxnSpPr/>
          <p:nvPr/>
        </p:nvCxnSpPr>
        <p:spPr>
          <a:xfrm>
            <a:off x="6477000" y="2819400"/>
            <a:ext cx="3327400" cy="584200"/>
          </a:xfrm>
          <a:prstGeom prst="line">
            <a:avLst/>
          </a:prstGeom>
          <a:ln w="1524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EC7481F4-AFF5-432C-960C-93F6F569686F}"/>
              </a:ext>
            </a:extLst>
          </p:cNvPr>
          <p:cNvSpPr/>
          <p:nvPr/>
        </p:nvSpPr>
        <p:spPr>
          <a:xfrm>
            <a:off x="8331200" y="3403600"/>
            <a:ext cx="2946400" cy="1295400"/>
          </a:xfrm>
          <a:prstGeom prst="rect">
            <a:avLst/>
          </a:prstGeom>
          <a:solidFill>
            <a:srgbClr val="EEF2F6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4D8617F-54CD-C0CF-5CB2-1C7254459D00}"/>
              </a:ext>
            </a:extLst>
          </p:cNvPr>
          <p:cNvSpPr txBox="1"/>
          <p:nvPr/>
        </p:nvSpPr>
        <p:spPr>
          <a:xfrm>
            <a:off x="8534400" y="3606800"/>
            <a:ext cx="2540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H3 ·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F2222DC-7F15-CEDC-F2B7-72E315BE7E31}"/>
              </a:ext>
            </a:extLst>
          </p:cNvPr>
          <p:cNvSpPr txBox="1"/>
          <p:nvPr/>
        </p:nvSpPr>
        <p:spPr>
          <a:xfrm>
            <a:off x="8534400" y="4064000"/>
            <a:ext cx="254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在条件 </a:t>
            </a:r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下效应改变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DADB1EC-AF22-80C8-27DB-64AE9CB25459}"/>
              </a:ext>
            </a:extLst>
          </p:cNvPr>
          <p:cNvSpPr/>
          <p:nvPr/>
        </p:nvSpPr>
        <p:spPr>
          <a:xfrm>
            <a:off x="1371600" y="5029200"/>
            <a:ext cx="10210800" cy="7620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5F3BDC7-0517-A76A-6B9B-A5AA143276F7}"/>
              </a:ext>
            </a:extLst>
          </p:cNvPr>
          <p:cNvSpPr txBox="1"/>
          <p:nvPr/>
        </p:nvSpPr>
        <p:spPr>
          <a:xfrm>
            <a:off x="1625600" y="5257800"/>
            <a:ext cx="9702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边界条件：对象、时间、环境、数据版本、排除条件与潜在混杂变量</a:t>
            </a:r>
          </a:p>
        </p:txBody>
      </p:sp>
    </p:spTree>
    <p:extLst>
      <p:ext uri="{BB962C8B-B14F-4D97-AF65-F5344CB8AC3E}">
        <p14:creationId xmlns:p14="http://schemas.microsoft.com/office/powerpoint/2010/main" val="142737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数据集护照与分布质量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6473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DATASET PASSPORT &amp; QUALITY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91639598-198E-6D0A-90DE-617FAB687027}"/>
              </a:ext>
            </a:extLst>
          </p:cNvPr>
          <p:cNvSpPr/>
          <p:nvPr/>
        </p:nvSpPr>
        <p:spPr>
          <a:xfrm>
            <a:off x="609600" y="1473200"/>
            <a:ext cx="3200400" cy="38862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482AE36-62A9-3720-8B59-DB8BAC93C4A9}"/>
              </a:ext>
            </a:extLst>
          </p:cNvPr>
          <p:cNvSpPr/>
          <p:nvPr/>
        </p:nvSpPr>
        <p:spPr>
          <a:xfrm>
            <a:off x="863600" y="1727200"/>
            <a:ext cx="965200" cy="254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9C3C1E9-3708-8106-2D0D-69FA6B4B512E}"/>
              </a:ext>
            </a:extLst>
          </p:cNvPr>
          <p:cNvSpPr txBox="1"/>
          <p:nvPr/>
        </p:nvSpPr>
        <p:spPr>
          <a:xfrm>
            <a:off x="901700" y="1810308"/>
            <a:ext cx="889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DATASET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8B6238B-3E29-39F7-81CB-C975B8291C41}"/>
              </a:ext>
            </a:extLst>
          </p:cNvPr>
          <p:cNvSpPr txBox="1"/>
          <p:nvPr/>
        </p:nvSpPr>
        <p:spPr>
          <a:xfrm>
            <a:off x="863600" y="2260600"/>
            <a:ext cx="2641600" cy="131831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许可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样本量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模态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匿名化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预处理版本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0AA93CA-7DFF-A497-7B28-E955BEDAE61F}"/>
              </a:ext>
            </a:extLst>
          </p:cNvPr>
          <p:cNvSpPr txBox="1"/>
          <p:nvPr/>
        </p:nvSpPr>
        <p:spPr>
          <a:xfrm>
            <a:off x="4191000" y="1473200"/>
            <a:ext cx="73914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样本分布（示例）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32F88AE-BD88-78C5-F82C-C7C59F79B5A9}"/>
              </a:ext>
            </a:extLst>
          </p:cNvPr>
          <p:cNvCxnSpPr/>
          <p:nvPr/>
        </p:nvCxnSpPr>
        <p:spPr>
          <a:xfrm>
            <a:off x="4191000" y="1790700"/>
            <a:ext cx="73914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0F70A0-AE1C-7E8F-0F62-C1448404659A}"/>
              </a:ext>
            </a:extLst>
          </p:cNvPr>
          <p:cNvCxnSpPr/>
          <p:nvPr/>
        </p:nvCxnSpPr>
        <p:spPr>
          <a:xfrm>
            <a:off x="4495800" y="2260600"/>
            <a:ext cx="0" cy="241300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DC744D6-3C88-C0DD-44C8-EA1AE3A90FD2}"/>
              </a:ext>
            </a:extLst>
          </p:cNvPr>
          <p:cNvCxnSpPr/>
          <p:nvPr/>
        </p:nvCxnSpPr>
        <p:spPr>
          <a:xfrm>
            <a:off x="4495800" y="4673600"/>
            <a:ext cx="6781800" cy="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A987591-52ED-0AFC-B9B8-E9E8802895E3}"/>
              </a:ext>
            </a:extLst>
          </p:cNvPr>
          <p:cNvCxnSpPr/>
          <p:nvPr/>
        </p:nvCxnSpPr>
        <p:spPr>
          <a:xfrm>
            <a:off x="4495800" y="4070350"/>
            <a:ext cx="6781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7540A67-BAD5-0124-EE90-6D8E6291370D}"/>
              </a:ext>
            </a:extLst>
          </p:cNvPr>
          <p:cNvCxnSpPr/>
          <p:nvPr/>
        </p:nvCxnSpPr>
        <p:spPr>
          <a:xfrm>
            <a:off x="4495800" y="3467100"/>
            <a:ext cx="6781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DDE27E0-5BE4-926B-A8A0-AEE36BB2D389}"/>
              </a:ext>
            </a:extLst>
          </p:cNvPr>
          <p:cNvCxnSpPr/>
          <p:nvPr/>
        </p:nvCxnSpPr>
        <p:spPr>
          <a:xfrm>
            <a:off x="4495800" y="2863850"/>
            <a:ext cx="6781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57BCBAD-7090-7A33-AD72-DFD9D13AA578}"/>
              </a:ext>
            </a:extLst>
          </p:cNvPr>
          <p:cNvCxnSpPr/>
          <p:nvPr/>
        </p:nvCxnSpPr>
        <p:spPr>
          <a:xfrm>
            <a:off x="4495800" y="2260600"/>
            <a:ext cx="6781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42A30B4B-8EFE-9566-29E5-AEB4EE0DA6A6}"/>
              </a:ext>
            </a:extLst>
          </p:cNvPr>
          <p:cNvSpPr txBox="1"/>
          <p:nvPr/>
        </p:nvSpPr>
        <p:spPr>
          <a:xfrm>
            <a:off x="10007600" y="4762500"/>
            <a:ext cx="127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数值区间 </a:t>
            </a:r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类别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2774A9-CF28-29BA-11F4-A3CA90C71C44}"/>
              </a:ext>
            </a:extLst>
          </p:cNvPr>
          <p:cNvSpPr txBox="1"/>
          <p:nvPr/>
        </p:nvSpPr>
        <p:spPr>
          <a:xfrm>
            <a:off x="4445000" y="20320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频数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7725F14-BE07-18F4-0A86-018964B34F44}"/>
              </a:ext>
            </a:extLst>
          </p:cNvPr>
          <p:cNvSpPr/>
          <p:nvPr/>
        </p:nvSpPr>
        <p:spPr>
          <a:xfrm>
            <a:off x="4724400" y="4102100"/>
            <a:ext cx="482600" cy="5715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EAF577B-2FB7-E3D1-3141-2BFB5212958A}"/>
              </a:ext>
            </a:extLst>
          </p:cNvPr>
          <p:cNvSpPr/>
          <p:nvPr/>
        </p:nvSpPr>
        <p:spPr>
          <a:xfrm>
            <a:off x="5486400" y="3683000"/>
            <a:ext cx="482600" cy="9906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89E81DE-418A-1F0C-0E7D-CED82FBF4DCD}"/>
              </a:ext>
            </a:extLst>
          </p:cNvPr>
          <p:cNvSpPr/>
          <p:nvPr/>
        </p:nvSpPr>
        <p:spPr>
          <a:xfrm>
            <a:off x="6248400" y="3073400"/>
            <a:ext cx="482600" cy="16002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26B6B5B-C83E-9EF0-27B7-834CA3983C8B}"/>
              </a:ext>
            </a:extLst>
          </p:cNvPr>
          <p:cNvSpPr/>
          <p:nvPr/>
        </p:nvSpPr>
        <p:spPr>
          <a:xfrm>
            <a:off x="7010400" y="2489200"/>
            <a:ext cx="482600" cy="2184400"/>
          </a:xfrm>
          <a:prstGeom prst="rect">
            <a:avLst/>
          </a:prstGeom>
          <a:solidFill>
            <a:srgbClr val="D8A54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44E3175-497C-B6CD-1A9A-D605CB5FB8F5}"/>
              </a:ext>
            </a:extLst>
          </p:cNvPr>
          <p:cNvSpPr/>
          <p:nvPr/>
        </p:nvSpPr>
        <p:spPr>
          <a:xfrm>
            <a:off x="7772400" y="2794000"/>
            <a:ext cx="482600" cy="18796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8A826F-ED14-C632-AB8A-101731959EFC}"/>
              </a:ext>
            </a:extLst>
          </p:cNvPr>
          <p:cNvSpPr/>
          <p:nvPr/>
        </p:nvSpPr>
        <p:spPr>
          <a:xfrm>
            <a:off x="8534400" y="3479800"/>
            <a:ext cx="482600" cy="11938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C74698B-BFC3-4ED2-DCCC-045F637D9814}"/>
              </a:ext>
            </a:extLst>
          </p:cNvPr>
          <p:cNvSpPr/>
          <p:nvPr/>
        </p:nvSpPr>
        <p:spPr>
          <a:xfrm>
            <a:off x="9296400" y="3911600"/>
            <a:ext cx="482600" cy="7620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933AE38-7CB3-36FA-16FE-785001A4DE3F}"/>
              </a:ext>
            </a:extLst>
          </p:cNvPr>
          <p:cNvSpPr/>
          <p:nvPr/>
        </p:nvSpPr>
        <p:spPr>
          <a:xfrm>
            <a:off x="10058400" y="4267200"/>
            <a:ext cx="482600" cy="4064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E005BF3-FBBB-AC7C-BF79-1EC23EF3866A}"/>
              </a:ext>
            </a:extLst>
          </p:cNvPr>
          <p:cNvSpPr/>
          <p:nvPr/>
        </p:nvSpPr>
        <p:spPr>
          <a:xfrm>
            <a:off x="609600" y="5562600"/>
            <a:ext cx="10972800" cy="431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276D3E4-FE3A-025C-10DB-BEA6B5CC1E98}"/>
              </a:ext>
            </a:extLst>
          </p:cNvPr>
          <p:cNvSpPr txBox="1"/>
          <p:nvPr/>
        </p:nvSpPr>
        <p:spPr>
          <a:xfrm>
            <a:off x="787400" y="5676900"/>
            <a:ext cx="10617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质量条  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缺失：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__%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偏差：待评估   重复：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许可：已确认 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待确认</a:t>
            </a:r>
          </a:p>
        </p:txBody>
      </p:sp>
    </p:spTree>
    <p:extLst>
      <p:ext uri="{BB962C8B-B14F-4D97-AF65-F5344CB8AC3E}">
        <p14:creationId xmlns:p14="http://schemas.microsoft.com/office/powerpoint/2010/main" val="127521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65003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分层方法与系统架构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9136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LAYERED METHOD ARCHITECTURE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21816823-B30B-9499-BE4B-E69C103DD759}"/>
              </a:ext>
            </a:extLst>
          </p:cNvPr>
          <p:cNvSpPr/>
          <p:nvPr/>
        </p:nvSpPr>
        <p:spPr>
          <a:xfrm>
            <a:off x="609600" y="1498600"/>
            <a:ext cx="1498600" cy="8382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781ED92-E10F-90D6-CB43-2E4556412F85}"/>
              </a:ext>
            </a:extLst>
          </p:cNvPr>
          <p:cNvSpPr txBox="1"/>
          <p:nvPr/>
        </p:nvSpPr>
        <p:spPr>
          <a:xfrm>
            <a:off x="736600" y="1739900"/>
            <a:ext cx="1244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F72F27-F791-94E3-254F-702C14837386}"/>
              </a:ext>
            </a:extLst>
          </p:cNvPr>
          <p:cNvSpPr/>
          <p:nvPr/>
        </p:nvSpPr>
        <p:spPr>
          <a:xfrm>
            <a:off x="2336800" y="14986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3B13B77-805C-F403-F292-A9866A138DF6}"/>
              </a:ext>
            </a:extLst>
          </p:cNvPr>
          <p:cNvSpPr txBox="1"/>
          <p:nvPr/>
        </p:nvSpPr>
        <p:spPr>
          <a:xfrm>
            <a:off x="2489200" y="16510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AA9FB7-BB88-06E6-BE51-3B267EA7CD71}"/>
              </a:ext>
            </a:extLst>
          </p:cNvPr>
          <p:cNvSpPr txBox="1"/>
          <p:nvPr/>
        </p:nvSpPr>
        <p:spPr>
          <a:xfrm>
            <a:off x="2489200" y="19812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E2F0636-6E40-FA35-36EC-F647CB4DEAA6}"/>
              </a:ext>
            </a:extLst>
          </p:cNvPr>
          <p:cNvSpPr/>
          <p:nvPr/>
        </p:nvSpPr>
        <p:spPr>
          <a:xfrm>
            <a:off x="5410200" y="14986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A9093C8-DF23-4D3E-AE94-E996F3154752}"/>
              </a:ext>
            </a:extLst>
          </p:cNvPr>
          <p:cNvSpPr txBox="1"/>
          <p:nvPr/>
        </p:nvSpPr>
        <p:spPr>
          <a:xfrm>
            <a:off x="5562600" y="16510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元数据与上下文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E2CBBE2-8FD6-CA72-E71B-4304F5AA0D37}"/>
              </a:ext>
            </a:extLst>
          </p:cNvPr>
          <p:cNvSpPr txBox="1"/>
          <p:nvPr/>
        </p:nvSpPr>
        <p:spPr>
          <a:xfrm>
            <a:off x="5562600" y="19812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3C2ADE-DCDD-9DF4-5BE3-4837094D875C}"/>
              </a:ext>
            </a:extLst>
          </p:cNvPr>
          <p:cNvSpPr/>
          <p:nvPr/>
        </p:nvSpPr>
        <p:spPr>
          <a:xfrm>
            <a:off x="8483600" y="14986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37A6CDE-99EC-1A56-37EE-55D3E73F27AE}"/>
              </a:ext>
            </a:extLst>
          </p:cNvPr>
          <p:cNvSpPr txBox="1"/>
          <p:nvPr/>
        </p:nvSpPr>
        <p:spPr>
          <a:xfrm>
            <a:off x="8636000" y="16510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质量控制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E9778FC-D9AE-B6DC-FB8C-3D2A28E03C4E}"/>
              </a:ext>
            </a:extLst>
          </p:cNvPr>
          <p:cNvSpPr txBox="1"/>
          <p:nvPr/>
        </p:nvSpPr>
        <p:spPr>
          <a:xfrm>
            <a:off x="8636000" y="19812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5360EBC-E666-5989-9777-5CBFE4537834}"/>
              </a:ext>
            </a:extLst>
          </p:cNvPr>
          <p:cNvSpPr/>
          <p:nvPr/>
        </p:nvSpPr>
        <p:spPr>
          <a:xfrm>
            <a:off x="609600" y="2616200"/>
            <a:ext cx="1498600" cy="8382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EB4A073-2A0E-4AA0-5DD7-56852B6DECC0}"/>
              </a:ext>
            </a:extLst>
          </p:cNvPr>
          <p:cNvSpPr txBox="1"/>
          <p:nvPr/>
        </p:nvSpPr>
        <p:spPr>
          <a:xfrm>
            <a:off x="736600" y="2857500"/>
            <a:ext cx="1244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B2B5A8E-8F00-FD1B-4DCB-89278469C329}"/>
              </a:ext>
            </a:extLst>
          </p:cNvPr>
          <p:cNvSpPr/>
          <p:nvPr/>
        </p:nvSpPr>
        <p:spPr>
          <a:xfrm>
            <a:off x="2336800" y="26162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572C3D4-1A33-67CE-254C-D0E559508758}"/>
              </a:ext>
            </a:extLst>
          </p:cNvPr>
          <p:cNvSpPr txBox="1"/>
          <p:nvPr/>
        </p:nvSpPr>
        <p:spPr>
          <a:xfrm>
            <a:off x="2489200" y="27686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编码与特征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D24842F-3C3D-96B2-25B8-747DC9440010}"/>
              </a:ext>
            </a:extLst>
          </p:cNvPr>
          <p:cNvSpPr txBox="1"/>
          <p:nvPr/>
        </p:nvSpPr>
        <p:spPr>
          <a:xfrm>
            <a:off x="2489200" y="30988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790ADC7-472B-C1C7-044B-485CBC59732F}"/>
              </a:ext>
            </a:extLst>
          </p:cNvPr>
          <p:cNvSpPr/>
          <p:nvPr/>
        </p:nvSpPr>
        <p:spPr>
          <a:xfrm>
            <a:off x="5410200" y="26162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A16C136-F8D6-717B-897F-16C7AB49319C}"/>
              </a:ext>
            </a:extLst>
          </p:cNvPr>
          <p:cNvSpPr txBox="1"/>
          <p:nvPr/>
        </p:nvSpPr>
        <p:spPr>
          <a:xfrm>
            <a:off x="5562600" y="27686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映射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1CD480C-EE91-94B4-3C6E-F770C0C260DA}"/>
              </a:ext>
            </a:extLst>
          </p:cNvPr>
          <p:cNvSpPr txBox="1"/>
          <p:nvPr/>
        </p:nvSpPr>
        <p:spPr>
          <a:xfrm>
            <a:off x="5562600" y="30988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886393D-7CFB-112A-43A6-B26410A20014}"/>
              </a:ext>
            </a:extLst>
          </p:cNvPr>
          <p:cNvSpPr/>
          <p:nvPr/>
        </p:nvSpPr>
        <p:spPr>
          <a:xfrm>
            <a:off x="8483600" y="26162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E94B0DD-4C6D-6955-A4CB-6D734165302C}"/>
              </a:ext>
            </a:extLst>
          </p:cNvPr>
          <p:cNvSpPr txBox="1"/>
          <p:nvPr/>
        </p:nvSpPr>
        <p:spPr>
          <a:xfrm>
            <a:off x="8636000" y="27686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先验与约束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DDDB224-5E82-7B17-D38F-46B62C7DF5B9}"/>
              </a:ext>
            </a:extLst>
          </p:cNvPr>
          <p:cNvSpPr txBox="1"/>
          <p:nvPr/>
        </p:nvSpPr>
        <p:spPr>
          <a:xfrm>
            <a:off x="8636000" y="30988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5E32337-757E-6632-D669-EFA51215F7C6}"/>
              </a:ext>
            </a:extLst>
          </p:cNvPr>
          <p:cNvSpPr/>
          <p:nvPr/>
        </p:nvSpPr>
        <p:spPr>
          <a:xfrm>
            <a:off x="609600" y="3733800"/>
            <a:ext cx="1498600" cy="8382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5853871-52B4-EC8A-EFEB-44AE03339057}"/>
              </a:ext>
            </a:extLst>
          </p:cNvPr>
          <p:cNvSpPr txBox="1"/>
          <p:nvPr/>
        </p:nvSpPr>
        <p:spPr>
          <a:xfrm>
            <a:off x="736600" y="3975100"/>
            <a:ext cx="1244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核心机制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F5BA9BC-9500-F8E4-C8FD-E67AD2DDF1CF}"/>
              </a:ext>
            </a:extLst>
          </p:cNvPr>
          <p:cNvSpPr/>
          <p:nvPr/>
        </p:nvSpPr>
        <p:spPr>
          <a:xfrm>
            <a:off x="2336800" y="37338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2E86AB3-EE1D-1017-E721-C27E03ACE143}"/>
              </a:ext>
            </a:extLst>
          </p:cNvPr>
          <p:cNvSpPr txBox="1"/>
          <p:nvPr/>
        </p:nvSpPr>
        <p:spPr>
          <a:xfrm>
            <a:off x="2489200" y="38862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1350" b="1">
              <a:solidFill>
                <a:srgbClr val="1721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5AFD8C1-1D13-58CE-879C-9B481CE7E96D}"/>
              </a:ext>
            </a:extLst>
          </p:cNvPr>
          <p:cNvSpPr txBox="1"/>
          <p:nvPr/>
        </p:nvSpPr>
        <p:spPr>
          <a:xfrm>
            <a:off x="2489200" y="42164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B0597D2-A719-DB9E-155A-801CB1B63D47}"/>
              </a:ext>
            </a:extLst>
          </p:cNvPr>
          <p:cNvSpPr/>
          <p:nvPr/>
        </p:nvSpPr>
        <p:spPr>
          <a:xfrm>
            <a:off x="5410200" y="3733800"/>
            <a:ext cx="2844800" cy="838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8A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0C89DE7-47EE-157C-C616-7B739530CD77}"/>
              </a:ext>
            </a:extLst>
          </p:cNvPr>
          <p:cNvSpPr txBox="1"/>
          <p:nvPr/>
        </p:nvSpPr>
        <p:spPr>
          <a:xfrm>
            <a:off x="5562600" y="38862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创新模块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lang="zh-CN" altLang="en-US" sz="1350" b="1">
              <a:solidFill>
                <a:srgbClr val="1721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1172492-F143-0255-1A3D-54E992460646}"/>
              </a:ext>
            </a:extLst>
          </p:cNvPr>
          <p:cNvSpPr txBox="1"/>
          <p:nvPr/>
        </p:nvSpPr>
        <p:spPr>
          <a:xfrm>
            <a:off x="5562600" y="42164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2EB7C4C-F6E1-B761-7F59-48DC7B5C9A7C}"/>
              </a:ext>
            </a:extLst>
          </p:cNvPr>
          <p:cNvSpPr/>
          <p:nvPr/>
        </p:nvSpPr>
        <p:spPr>
          <a:xfrm>
            <a:off x="8483600" y="37338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E0BCA9E-E254-9359-E36E-63855C0698CF}"/>
              </a:ext>
            </a:extLst>
          </p:cNvPr>
          <p:cNvSpPr txBox="1"/>
          <p:nvPr/>
        </p:nvSpPr>
        <p:spPr>
          <a:xfrm>
            <a:off x="8636000" y="38862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endParaRPr lang="zh-CN" altLang="en-US" sz="1350" b="1">
              <a:solidFill>
                <a:srgbClr val="1721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C8241F2-A056-193D-BDE8-2AF3307B7239}"/>
              </a:ext>
            </a:extLst>
          </p:cNvPr>
          <p:cNvSpPr txBox="1"/>
          <p:nvPr/>
        </p:nvSpPr>
        <p:spPr>
          <a:xfrm>
            <a:off x="8636000" y="42164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BC04D4D-A721-CE5D-8652-2C63A78C58E9}"/>
              </a:ext>
            </a:extLst>
          </p:cNvPr>
          <p:cNvSpPr/>
          <p:nvPr/>
        </p:nvSpPr>
        <p:spPr>
          <a:xfrm>
            <a:off x="609600" y="4851400"/>
            <a:ext cx="1498600" cy="8382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06B309D-1FC9-0DE8-0CE0-999D3E2D5FC9}"/>
              </a:ext>
            </a:extLst>
          </p:cNvPr>
          <p:cNvSpPr txBox="1"/>
          <p:nvPr/>
        </p:nvSpPr>
        <p:spPr>
          <a:xfrm>
            <a:off x="736600" y="5092700"/>
            <a:ext cx="1244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输出层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EA5E58F-9B9A-06FC-41BE-64735AC12A94}"/>
              </a:ext>
            </a:extLst>
          </p:cNvPr>
          <p:cNvSpPr/>
          <p:nvPr/>
        </p:nvSpPr>
        <p:spPr>
          <a:xfrm>
            <a:off x="2336800" y="48514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D1270AE-36BD-D79A-BFD9-576EAC500B4C}"/>
              </a:ext>
            </a:extLst>
          </p:cNvPr>
          <p:cNvSpPr txBox="1"/>
          <p:nvPr/>
        </p:nvSpPr>
        <p:spPr>
          <a:xfrm>
            <a:off x="2489200" y="50038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 </a:t>
            </a:r>
            <a:r>
              <a:rPr lang="en-US" altLang="zh-CN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699AFA0-5633-E06B-1541-41C907749041}"/>
              </a:ext>
            </a:extLst>
          </p:cNvPr>
          <p:cNvSpPr txBox="1"/>
          <p:nvPr/>
        </p:nvSpPr>
        <p:spPr>
          <a:xfrm>
            <a:off x="2489200" y="53340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85B4A01-A31E-C8AA-46E0-899800B96911}"/>
              </a:ext>
            </a:extLst>
          </p:cNvPr>
          <p:cNvSpPr/>
          <p:nvPr/>
        </p:nvSpPr>
        <p:spPr>
          <a:xfrm>
            <a:off x="5410200" y="48514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0BF42AD-5019-A90B-C197-BFB96F9DC3E8}"/>
              </a:ext>
            </a:extLst>
          </p:cNvPr>
          <p:cNvSpPr txBox="1"/>
          <p:nvPr/>
        </p:nvSpPr>
        <p:spPr>
          <a:xfrm>
            <a:off x="5562600" y="50038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不确定性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6C1F8F1-A599-82F4-EC56-74282950EDAA}"/>
              </a:ext>
            </a:extLst>
          </p:cNvPr>
          <p:cNvSpPr txBox="1"/>
          <p:nvPr/>
        </p:nvSpPr>
        <p:spPr>
          <a:xfrm>
            <a:off x="5562600" y="53340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B8DC2D5-FB06-017B-3DA1-09D06EDFBA1A}"/>
              </a:ext>
            </a:extLst>
          </p:cNvPr>
          <p:cNvSpPr/>
          <p:nvPr/>
        </p:nvSpPr>
        <p:spPr>
          <a:xfrm>
            <a:off x="8483600" y="4851400"/>
            <a:ext cx="2844800" cy="83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FF1BBA6-C2CC-0B7C-F87C-ADF95CBFFE51}"/>
              </a:ext>
            </a:extLst>
          </p:cNvPr>
          <p:cNvSpPr txBox="1"/>
          <p:nvPr/>
        </p:nvSpPr>
        <p:spPr>
          <a:xfrm>
            <a:off x="8636000" y="5003800"/>
            <a:ext cx="2540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接口与产物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244465E-830A-F9CB-722D-5210DF596A14}"/>
              </a:ext>
            </a:extLst>
          </p:cNvPr>
          <p:cNvSpPr txBox="1"/>
          <p:nvPr/>
        </p:nvSpPr>
        <p:spPr>
          <a:xfrm>
            <a:off x="8636000" y="5334000"/>
            <a:ext cx="254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一句职责说明 </a:t>
            </a:r>
            <a:r>
              <a:rPr lang="en-US" altLang="zh-CN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B245ABE-A323-52A7-B85B-B710EDE506FF}"/>
              </a:ext>
            </a:extLst>
          </p:cNvPr>
          <p:cNvSpPr txBox="1"/>
          <p:nvPr/>
        </p:nvSpPr>
        <p:spPr>
          <a:xfrm>
            <a:off x="2336800" y="5892800"/>
            <a:ext cx="8991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训练路径  ─────────────→     推理路径  ─────────────→</a:t>
            </a:r>
          </a:p>
        </p:txBody>
      </p:sp>
    </p:spTree>
    <p:extLst>
      <p:ext uri="{BB962C8B-B14F-4D97-AF65-F5344CB8AC3E}">
        <p14:creationId xmlns:p14="http://schemas.microsoft.com/office/powerpoint/2010/main" val="210234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65003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实验设置与复现账本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46017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EXPERIMENT SETUP &amp; REPRODUCIBILITY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92D4F347-3E2A-1361-7938-13B79EE56AA2}"/>
              </a:ext>
            </a:extLst>
          </p:cNvPr>
          <p:cNvSpPr/>
          <p:nvPr/>
        </p:nvSpPr>
        <p:spPr>
          <a:xfrm>
            <a:off x="609600" y="1600200"/>
            <a:ext cx="2590800" cy="309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F10784C-E6A1-887D-A75D-627777A967A2}"/>
              </a:ext>
            </a:extLst>
          </p:cNvPr>
          <p:cNvSpPr/>
          <p:nvPr/>
        </p:nvSpPr>
        <p:spPr>
          <a:xfrm>
            <a:off x="609600" y="1600200"/>
            <a:ext cx="2590800" cy="5334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BD25ED-F0CA-765B-D0DF-BCC9B764FD8E}"/>
              </a:ext>
            </a:extLst>
          </p:cNvPr>
          <p:cNvSpPr txBox="1"/>
          <p:nvPr/>
        </p:nvSpPr>
        <p:spPr>
          <a:xfrm>
            <a:off x="762000" y="1752600"/>
            <a:ext cx="2286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硬件环境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1C63BFC-6C3C-FE11-D09A-D949AB318439}"/>
              </a:ext>
            </a:extLst>
          </p:cNvPr>
          <p:cNvSpPr txBox="1"/>
          <p:nvPr/>
        </p:nvSpPr>
        <p:spPr>
          <a:xfrm>
            <a:off x="838200" y="2463800"/>
            <a:ext cx="21336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 </a:t>
            </a:r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型号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显存 </a:t>
            </a:r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内存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训练时长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F4C5254-3032-F6D8-E888-C91B09AB6F0F}"/>
              </a:ext>
            </a:extLst>
          </p:cNvPr>
          <p:cNvSpPr/>
          <p:nvPr/>
        </p:nvSpPr>
        <p:spPr>
          <a:xfrm>
            <a:off x="3403600" y="1600200"/>
            <a:ext cx="2590800" cy="309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8C8C68A-8DE8-21C9-A646-70E788D37E0C}"/>
              </a:ext>
            </a:extLst>
          </p:cNvPr>
          <p:cNvSpPr/>
          <p:nvPr/>
        </p:nvSpPr>
        <p:spPr>
          <a:xfrm>
            <a:off x="3403600" y="1600200"/>
            <a:ext cx="2590800" cy="5334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138AA25-018F-B9A6-E44A-8D47195F7001}"/>
              </a:ext>
            </a:extLst>
          </p:cNvPr>
          <p:cNvSpPr txBox="1"/>
          <p:nvPr/>
        </p:nvSpPr>
        <p:spPr>
          <a:xfrm>
            <a:off x="3556000" y="1752600"/>
            <a:ext cx="2286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软件环境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94085D-9216-8335-4CBA-27BAAFA12099}"/>
              </a:ext>
            </a:extLst>
          </p:cNvPr>
          <p:cNvSpPr txBox="1"/>
          <p:nvPr/>
        </p:nvSpPr>
        <p:spPr>
          <a:xfrm>
            <a:off x="3632200" y="2463800"/>
            <a:ext cx="21336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OS / Runtime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框架 </a:t>
            </a:r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依赖锁文件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7382B95-BC9F-0671-F0A1-2500FAA0EA9D}"/>
              </a:ext>
            </a:extLst>
          </p:cNvPr>
          <p:cNvSpPr/>
          <p:nvPr/>
        </p:nvSpPr>
        <p:spPr>
          <a:xfrm>
            <a:off x="6197600" y="1600200"/>
            <a:ext cx="2590800" cy="309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1C0CF21-8D56-19FD-E6F5-0B82BC8E190F}"/>
              </a:ext>
            </a:extLst>
          </p:cNvPr>
          <p:cNvSpPr/>
          <p:nvPr/>
        </p:nvSpPr>
        <p:spPr>
          <a:xfrm>
            <a:off x="6197600" y="1600200"/>
            <a:ext cx="2590800" cy="5334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F1C567E-6769-5D43-C2E7-722C7FD08CCF}"/>
              </a:ext>
            </a:extLst>
          </p:cNvPr>
          <p:cNvSpPr txBox="1"/>
          <p:nvPr/>
        </p:nvSpPr>
        <p:spPr>
          <a:xfrm>
            <a:off x="6350000" y="1752600"/>
            <a:ext cx="2286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数据协议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6D7200C-5BCA-2ED6-17DE-D54CB0FC988A}"/>
              </a:ext>
            </a:extLst>
          </p:cNvPr>
          <p:cNvSpPr txBox="1"/>
          <p:nvPr/>
        </p:nvSpPr>
        <p:spPr>
          <a:xfrm>
            <a:off x="6426200" y="2463800"/>
            <a:ext cx="21336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数据版本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划分策略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随机种子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6671776-58BA-50DD-5113-F264CE9BC281}"/>
              </a:ext>
            </a:extLst>
          </p:cNvPr>
          <p:cNvSpPr/>
          <p:nvPr/>
        </p:nvSpPr>
        <p:spPr>
          <a:xfrm>
            <a:off x="8991600" y="1600200"/>
            <a:ext cx="2590800" cy="309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6BE455-0996-EFEA-38F3-1B8BC14D9723}"/>
              </a:ext>
            </a:extLst>
          </p:cNvPr>
          <p:cNvSpPr/>
          <p:nvPr/>
        </p:nvSpPr>
        <p:spPr>
          <a:xfrm>
            <a:off x="8991600" y="1600200"/>
            <a:ext cx="2590800" cy="5334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AF7518A-5041-0826-B69D-C45399D519A4}"/>
              </a:ext>
            </a:extLst>
          </p:cNvPr>
          <p:cNvSpPr txBox="1"/>
          <p:nvPr/>
        </p:nvSpPr>
        <p:spPr>
          <a:xfrm>
            <a:off x="9144000" y="1752600"/>
            <a:ext cx="2286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评价与控制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4267A9E-AA44-17BD-9213-0FD728F4DB0B}"/>
              </a:ext>
            </a:extLst>
          </p:cNvPr>
          <p:cNvSpPr txBox="1"/>
          <p:nvPr/>
        </p:nvSpPr>
        <p:spPr>
          <a:xfrm>
            <a:off x="9220200" y="2463800"/>
            <a:ext cx="21336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主指标 </a:t>
            </a:r>
            <a:r>
              <a:rPr lang="en-US" altLang="zh-CN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辅指标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统计检验</a:t>
            </a:r>
          </a:p>
          <a:p>
            <a:r>
              <a:rPr lang="zh-CN" altLang="en-US" sz="14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固定基线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06FBB11-442C-5F20-0C5C-D5CB915BB5B5}"/>
              </a:ext>
            </a:extLst>
          </p:cNvPr>
          <p:cNvSpPr/>
          <p:nvPr/>
        </p:nvSpPr>
        <p:spPr>
          <a:xfrm>
            <a:off x="609600" y="5003800"/>
            <a:ext cx="1676400" cy="685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6D658DA-B04A-90EF-625A-81F9728A3D4E}"/>
              </a:ext>
            </a:extLst>
          </p:cNvPr>
          <p:cNvSpPr/>
          <p:nvPr/>
        </p:nvSpPr>
        <p:spPr>
          <a:xfrm>
            <a:off x="711200" y="5219700"/>
            <a:ext cx="304800" cy="254000"/>
          </a:xfrm>
          <a:prstGeom prst="roundRect">
            <a:avLst/>
          </a:prstGeom>
          <a:solidFill>
            <a:srgbClr val="2D7A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8664417-4D91-BF82-4EB4-FD5392AE2DC6}"/>
              </a:ext>
            </a:extLst>
          </p:cNvPr>
          <p:cNvSpPr txBox="1"/>
          <p:nvPr/>
        </p:nvSpPr>
        <p:spPr>
          <a:xfrm>
            <a:off x="749300" y="5302808"/>
            <a:ext cx="228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A7EB73C-E33B-D564-EA3A-8259B4B4C4E6}"/>
              </a:ext>
            </a:extLst>
          </p:cNvPr>
          <p:cNvSpPr txBox="1"/>
          <p:nvPr/>
        </p:nvSpPr>
        <p:spPr>
          <a:xfrm>
            <a:off x="1092200" y="5207000"/>
            <a:ext cx="106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代码版本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6502FCA-4A06-176C-8982-CDF86C9FC896}"/>
              </a:ext>
            </a:extLst>
          </p:cNvPr>
          <p:cNvSpPr/>
          <p:nvPr/>
        </p:nvSpPr>
        <p:spPr>
          <a:xfrm>
            <a:off x="2438400" y="5003800"/>
            <a:ext cx="1676400" cy="685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2FEAA9E7-600E-3285-9DE3-113E6D747271}"/>
              </a:ext>
            </a:extLst>
          </p:cNvPr>
          <p:cNvSpPr/>
          <p:nvPr/>
        </p:nvSpPr>
        <p:spPr>
          <a:xfrm>
            <a:off x="2540000" y="5219700"/>
            <a:ext cx="304800" cy="254000"/>
          </a:xfrm>
          <a:prstGeom prst="roundRect">
            <a:avLst/>
          </a:prstGeom>
          <a:solidFill>
            <a:srgbClr val="2D7A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DF741D7-6D42-AD7C-B02F-2212957AAFF2}"/>
              </a:ext>
            </a:extLst>
          </p:cNvPr>
          <p:cNvSpPr txBox="1"/>
          <p:nvPr/>
        </p:nvSpPr>
        <p:spPr>
          <a:xfrm>
            <a:off x="2578100" y="5302808"/>
            <a:ext cx="228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F53AE97-6FA7-FBFC-7192-CFC69E9AF7AB}"/>
              </a:ext>
            </a:extLst>
          </p:cNvPr>
          <p:cNvSpPr txBox="1"/>
          <p:nvPr/>
        </p:nvSpPr>
        <p:spPr>
          <a:xfrm>
            <a:off x="2921000" y="5207000"/>
            <a:ext cx="106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环境锁定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0ED0457-A94C-F490-18E7-BE823E550675}"/>
              </a:ext>
            </a:extLst>
          </p:cNvPr>
          <p:cNvSpPr/>
          <p:nvPr/>
        </p:nvSpPr>
        <p:spPr>
          <a:xfrm>
            <a:off x="4267200" y="5003800"/>
            <a:ext cx="1676400" cy="685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29BF3827-7999-E1BC-56CA-445742FBD6AB}"/>
              </a:ext>
            </a:extLst>
          </p:cNvPr>
          <p:cNvSpPr/>
          <p:nvPr/>
        </p:nvSpPr>
        <p:spPr>
          <a:xfrm>
            <a:off x="4368800" y="5219700"/>
            <a:ext cx="304800" cy="254000"/>
          </a:xfrm>
          <a:prstGeom prst="roundRect">
            <a:avLst/>
          </a:prstGeom>
          <a:solidFill>
            <a:srgbClr val="2D7A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48BC66C-70BC-420D-5D0C-C14A85B59722}"/>
              </a:ext>
            </a:extLst>
          </p:cNvPr>
          <p:cNvSpPr txBox="1"/>
          <p:nvPr/>
        </p:nvSpPr>
        <p:spPr>
          <a:xfrm>
            <a:off x="4406900" y="5302808"/>
            <a:ext cx="228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F6F92DF-64F1-840B-353F-5A06CE87F51A}"/>
              </a:ext>
            </a:extLst>
          </p:cNvPr>
          <p:cNvSpPr txBox="1"/>
          <p:nvPr/>
        </p:nvSpPr>
        <p:spPr>
          <a:xfrm>
            <a:off x="4749800" y="5207000"/>
            <a:ext cx="106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随机种子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BD088A5-8367-B074-A851-62607C64AEC9}"/>
              </a:ext>
            </a:extLst>
          </p:cNvPr>
          <p:cNvSpPr/>
          <p:nvPr/>
        </p:nvSpPr>
        <p:spPr>
          <a:xfrm>
            <a:off x="6096000" y="5003800"/>
            <a:ext cx="1676400" cy="685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C6B50B5D-8181-70D4-36D5-901C721C33F4}"/>
              </a:ext>
            </a:extLst>
          </p:cNvPr>
          <p:cNvSpPr/>
          <p:nvPr/>
        </p:nvSpPr>
        <p:spPr>
          <a:xfrm>
            <a:off x="6197600" y="5219700"/>
            <a:ext cx="304800" cy="254000"/>
          </a:xfrm>
          <a:prstGeom prst="roundRect">
            <a:avLst/>
          </a:prstGeom>
          <a:solidFill>
            <a:srgbClr val="2D7A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4761452-334F-0EDB-E8AA-1218E9A0F04A}"/>
              </a:ext>
            </a:extLst>
          </p:cNvPr>
          <p:cNvSpPr txBox="1"/>
          <p:nvPr/>
        </p:nvSpPr>
        <p:spPr>
          <a:xfrm>
            <a:off x="6235700" y="5302808"/>
            <a:ext cx="228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49D2DBF-F73F-EEF7-1C03-464D740D33C3}"/>
              </a:ext>
            </a:extLst>
          </p:cNvPr>
          <p:cNvSpPr txBox="1"/>
          <p:nvPr/>
        </p:nvSpPr>
        <p:spPr>
          <a:xfrm>
            <a:off x="6578600" y="5207000"/>
            <a:ext cx="106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数据哈希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A194589-0A41-4112-1A9E-DC6645D0C334}"/>
              </a:ext>
            </a:extLst>
          </p:cNvPr>
          <p:cNvSpPr/>
          <p:nvPr/>
        </p:nvSpPr>
        <p:spPr>
          <a:xfrm>
            <a:off x="7924800" y="5003800"/>
            <a:ext cx="1676400" cy="685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51B19E8-63E8-A5AE-C30E-493668D3E530}"/>
              </a:ext>
            </a:extLst>
          </p:cNvPr>
          <p:cNvSpPr/>
          <p:nvPr/>
        </p:nvSpPr>
        <p:spPr>
          <a:xfrm>
            <a:off x="8026400" y="5219700"/>
            <a:ext cx="304800" cy="254000"/>
          </a:xfrm>
          <a:prstGeom prst="roundRect">
            <a:avLst/>
          </a:prstGeom>
          <a:solidFill>
            <a:srgbClr val="2D7A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DD55277-2E55-F306-685C-A5471033E7FE}"/>
              </a:ext>
            </a:extLst>
          </p:cNvPr>
          <p:cNvSpPr txBox="1"/>
          <p:nvPr/>
        </p:nvSpPr>
        <p:spPr>
          <a:xfrm>
            <a:off x="8064500" y="5302808"/>
            <a:ext cx="228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62DDD6D-7175-277E-9FAA-5D90C601B0A4}"/>
              </a:ext>
            </a:extLst>
          </p:cNvPr>
          <p:cNvSpPr txBox="1"/>
          <p:nvPr/>
        </p:nvSpPr>
        <p:spPr>
          <a:xfrm>
            <a:off x="8407400" y="5207000"/>
            <a:ext cx="106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日志与权重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1B1EF0C-2414-5150-FC09-081E7F1870ED}"/>
              </a:ext>
            </a:extLst>
          </p:cNvPr>
          <p:cNvSpPr/>
          <p:nvPr/>
        </p:nvSpPr>
        <p:spPr>
          <a:xfrm>
            <a:off x="9753600" y="5003800"/>
            <a:ext cx="1676400" cy="6858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7FF18F55-A9EF-A9CE-FB74-D975E92A4848}"/>
              </a:ext>
            </a:extLst>
          </p:cNvPr>
          <p:cNvSpPr/>
          <p:nvPr/>
        </p:nvSpPr>
        <p:spPr>
          <a:xfrm>
            <a:off x="9855200" y="5219700"/>
            <a:ext cx="304800" cy="254000"/>
          </a:xfrm>
          <a:prstGeom prst="roundRect">
            <a:avLst/>
          </a:prstGeom>
          <a:solidFill>
            <a:srgbClr val="2D7A5D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03225FC-D45F-A8EC-E92A-348D07E296E3}"/>
              </a:ext>
            </a:extLst>
          </p:cNvPr>
          <p:cNvSpPr txBox="1"/>
          <p:nvPr/>
        </p:nvSpPr>
        <p:spPr>
          <a:xfrm>
            <a:off x="9893300" y="5302808"/>
            <a:ext cx="228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88F2F42-6194-0B72-EDAD-E89C76D8C501}"/>
              </a:ext>
            </a:extLst>
          </p:cNvPr>
          <p:cNvSpPr txBox="1"/>
          <p:nvPr/>
        </p:nvSpPr>
        <p:spPr>
          <a:xfrm>
            <a:off x="10236200" y="5207000"/>
            <a:ext cx="106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评价脚本</a:t>
            </a:r>
          </a:p>
        </p:txBody>
      </p:sp>
    </p:spTree>
    <p:extLst>
      <p:ext uri="{BB962C8B-B14F-4D97-AF65-F5344CB8AC3E}">
        <p14:creationId xmlns:p14="http://schemas.microsoft.com/office/powerpoint/2010/main" val="193582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46115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定量结果综合与效应差值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22618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QUANTITATIVE SYNTHESIS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C6219D7-6D31-9BC9-A7B6-E9732A43CAEB}"/>
              </a:ext>
            </a:extLst>
          </p:cNvPr>
          <p:cNvSpPr/>
          <p:nvPr/>
        </p:nvSpPr>
        <p:spPr>
          <a:xfrm>
            <a:off x="609600" y="1473200"/>
            <a:ext cx="3429000" cy="1143000"/>
          </a:xfrm>
          <a:prstGeom prst="rect">
            <a:avLst/>
          </a:prstGeom>
          <a:solidFill>
            <a:srgbClr val="123B5D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679E5C9-8E8E-D674-E443-2A3D77671D4E}"/>
              </a:ext>
            </a:extLst>
          </p:cNvPr>
          <p:cNvSpPr txBox="1"/>
          <p:nvPr/>
        </p:nvSpPr>
        <p:spPr>
          <a:xfrm>
            <a:off x="812800" y="1651000"/>
            <a:ext cx="1016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主指标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ABFE1F5-A8B4-6CAE-5211-27A2B52CD675}"/>
              </a:ext>
            </a:extLst>
          </p:cNvPr>
          <p:cNvSpPr txBox="1"/>
          <p:nvPr/>
        </p:nvSpPr>
        <p:spPr>
          <a:xfrm>
            <a:off x="812800" y="1917700"/>
            <a:ext cx="19050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0.842</a:t>
            </a:r>
            <a:endParaRPr lang="zh-CN" altLang="en-US" sz="2500" b="1">
              <a:solidFill>
                <a:srgbClr val="FFFFF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5A73613-895F-DF49-4011-1E0D91EB45EB}"/>
              </a:ext>
            </a:extLst>
          </p:cNvPr>
          <p:cNvSpPr txBox="1"/>
          <p:nvPr/>
        </p:nvSpPr>
        <p:spPr>
          <a:xfrm>
            <a:off x="2819400" y="2057400"/>
            <a:ext cx="1016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5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+4.8%</a:t>
            </a:r>
            <a:endParaRPr lang="zh-CN" altLang="en-US" sz="1050" b="1">
              <a:solidFill>
                <a:srgbClr val="D8A5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DEFE7E-38D9-E1F8-E75F-9803D1E18722}"/>
              </a:ext>
            </a:extLst>
          </p:cNvPr>
          <p:cNvSpPr/>
          <p:nvPr/>
        </p:nvSpPr>
        <p:spPr>
          <a:xfrm>
            <a:off x="4267200" y="147320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F00867-D7DC-928E-91E7-4EB121724BEB}"/>
              </a:ext>
            </a:extLst>
          </p:cNvPr>
          <p:cNvSpPr txBox="1"/>
          <p:nvPr/>
        </p:nvSpPr>
        <p:spPr>
          <a:xfrm>
            <a:off x="4470400" y="1651000"/>
            <a:ext cx="1016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效应量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D61B45E-839B-5F32-7779-8B103E13F80F}"/>
              </a:ext>
            </a:extLst>
          </p:cNvPr>
          <p:cNvSpPr txBox="1"/>
          <p:nvPr/>
        </p:nvSpPr>
        <p:spPr>
          <a:xfrm>
            <a:off x="4470400" y="1917700"/>
            <a:ext cx="19050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2500" b="1">
                <a:solidFill>
                  <a:srgbClr val="123B5D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0.61</a:t>
            </a:r>
            <a:endParaRPr lang="zh-CN" altLang="en-US" sz="2500" b="1">
              <a:solidFill>
                <a:srgbClr val="123B5D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FF65DCF-8781-5A1E-5843-C729634E96F6}"/>
              </a:ext>
            </a:extLst>
          </p:cNvPr>
          <p:cNvSpPr txBox="1"/>
          <p:nvPr/>
        </p:nvSpPr>
        <p:spPr>
          <a:xfrm>
            <a:off x="6477000" y="2057400"/>
            <a:ext cx="1016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zh-CN" altLang="en-US" sz="1050" b="1">
                <a:solidFill>
                  <a:srgbClr val="2D7A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中等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5B2BA2E-1B0E-09AA-58F8-2D334FA70A1B}"/>
              </a:ext>
            </a:extLst>
          </p:cNvPr>
          <p:cNvSpPr/>
          <p:nvPr/>
        </p:nvSpPr>
        <p:spPr>
          <a:xfrm>
            <a:off x="7924800" y="147320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728E40C-8E1B-8D25-C993-B8ED4C005E18}"/>
              </a:ext>
            </a:extLst>
          </p:cNvPr>
          <p:cNvSpPr txBox="1"/>
          <p:nvPr/>
        </p:nvSpPr>
        <p:spPr>
          <a:xfrm>
            <a:off x="8128000" y="1651000"/>
            <a:ext cx="1016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</a:t>
            </a:r>
            <a:endParaRPr lang="zh-CN" altLang="en-US" sz="1050" b="1">
              <a:solidFill>
                <a:srgbClr val="123B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FB26B2A-9A79-31DB-EC0B-9E9C06A70544}"/>
              </a:ext>
            </a:extLst>
          </p:cNvPr>
          <p:cNvSpPr txBox="1"/>
          <p:nvPr/>
        </p:nvSpPr>
        <p:spPr>
          <a:xfrm>
            <a:off x="8128000" y="1917700"/>
            <a:ext cx="19050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2500" b="1">
                <a:solidFill>
                  <a:srgbClr val="123B5D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[0.42, 0.79]</a:t>
            </a:r>
            <a:endParaRPr lang="zh-CN" altLang="en-US" sz="2500" b="1">
              <a:solidFill>
                <a:srgbClr val="123B5D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6B1D230-1DB4-94C2-D9FD-BB4FBC2A4891}"/>
              </a:ext>
            </a:extLst>
          </p:cNvPr>
          <p:cNvSpPr txBox="1"/>
          <p:nvPr/>
        </p:nvSpPr>
        <p:spPr>
          <a:xfrm>
            <a:off x="10134600" y="2057400"/>
            <a:ext cx="1016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zh-CN" altLang="en-US" sz="1050" b="1">
                <a:solidFill>
                  <a:srgbClr val="2D7A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不跨零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9435C76-1B81-1FAA-6F35-F7428098D221}"/>
              </a:ext>
            </a:extLst>
          </p:cNvPr>
          <p:cNvSpPr txBox="1"/>
          <p:nvPr/>
        </p:nvSpPr>
        <p:spPr>
          <a:xfrm>
            <a:off x="609600" y="2844800"/>
            <a:ext cx="10972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基线与方法的差值（示例）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5EF2FD9-624E-B2FC-3C32-B81539255D05}"/>
              </a:ext>
            </a:extLst>
          </p:cNvPr>
          <p:cNvCxnSpPr/>
          <p:nvPr/>
        </p:nvCxnSpPr>
        <p:spPr>
          <a:xfrm>
            <a:off x="609600" y="3162300"/>
            <a:ext cx="109728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A1F56F4-59AF-1C1C-1434-DD349EA68FA7}"/>
              </a:ext>
            </a:extLst>
          </p:cNvPr>
          <p:cNvSpPr txBox="1"/>
          <p:nvPr/>
        </p:nvSpPr>
        <p:spPr>
          <a:xfrm>
            <a:off x="609600" y="3390900"/>
            <a:ext cx="119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Metric A</a:t>
            </a:r>
            <a:endParaRPr lang="zh-CN" altLang="en-US" sz="105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8D5E91E-A4E1-7831-381C-ACFCCB65B6F2}"/>
              </a:ext>
            </a:extLst>
          </p:cNvPr>
          <p:cNvCxnSpPr/>
          <p:nvPr/>
        </p:nvCxnSpPr>
        <p:spPr>
          <a:xfrm>
            <a:off x="7386320" y="3492500"/>
            <a:ext cx="1381760" cy="0"/>
          </a:xfrm>
          <a:prstGeom prst="line">
            <a:avLst/>
          </a:prstGeom>
          <a:ln w="5080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792D2256-3BB7-7857-780E-99FE8C715AA7}"/>
              </a:ext>
            </a:extLst>
          </p:cNvPr>
          <p:cNvSpPr/>
          <p:nvPr/>
        </p:nvSpPr>
        <p:spPr>
          <a:xfrm>
            <a:off x="7322820" y="3429000"/>
            <a:ext cx="127000" cy="127000"/>
          </a:xfrm>
          <a:prstGeom prst="ellipse">
            <a:avLst/>
          </a:prstGeom>
          <a:solidFill>
            <a:srgbClr val="7A8792"/>
          </a:solidFill>
          <a:ln w="10160">
            <a:solidFill>
              <a:srgbClr val="7A8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483ED6BD-D4F8-53C6-B204-3AD46C577551}"/>
              </a:ext>
            </a:extLst>
          </p:cNvPr>
          <p:cNvSpPr/>
          <p:nvPr/>
        </p:nvSpPr>
        <p:spPr>
          <a:xfrm>
            <a:off x="8691880" y="3416300"/>
            <a:ext cx="152400" cy="1524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348AD70-9A87-99D7-9F8A-791BFAE42F07}"/>
              </a:ext>
            </a:extLst>
          </p:cNvPr>
          <p:cNvSpPr txBox="1"/>
          <p:nvPr/>
        </p:nvSpPr>
        <p:spPr>
          <a:xfrm>
            <a:off x="10541000" y="3390900"/>
            <a:ext cx="1016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p=0.01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0CAE26C-5E73-02BF-3631-82E28654C0AD}"/>
              </a:ext>
            </a:extLst>
          </p:cNvPr>
          <p:cNvSpPr txBox="1"/>
          <p:nvPr/>
        </p:nvSpPr>
        <p:spPr>
          <a:xfrm>
            <a:off x="609600" y="3822700"/>
            <a:ext cx="119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Metric B</a:t>
            </a:r>
            <a:endParaRPr lang="zh-CN" altLang="en-US" sz="105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69A6FA9-04D4-C5E5-B9A6-54FABCD3EE7E}"/>
              </a:ext>
            </a:extLst>
          </p:cNvPr>
          <p:cNvCxnSpPr/>
          <p:nvPr/>
        </p:nvCxnSpPr>
        <p:spPr>
          <a:xfrm>
            <a:off x="8077200" y="3924300"/>
            <a:ext cx="863600" cy="0"/>
          </a:xfrm>
          <a:prstGeom prst="line">
            <a:avLst/>
          </a:prstGeom>
          <a:ln w="5080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DC1FA9D9-E570-5BB0-7A61-81996D6B1986}"/>
              </a:ext>
            </a:extLst>
          </p:cNvPr>
          <p:cNvSpPr/>
          <p:nvPr/>
        </p:nvSpPr>
        <p:spPr>
          <a:xfrm>
            <a:off x="8013700" y="3860800"/>
            <a:ext cx="127000" cy="127000"/>
          </a:xfrm>
          <a:prstGeom prst="ellipse">
            <a:avLst/>
          </a:prstGeom>
          <a:solidFill>
            <a:srgbClr val="7A8792"/>
          </a:solidFill>
          <a:ln w="10160">
            <a:solidFill>
              <a:srgbClr val="7A8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BAEDFEF-1D77-56AA-4CBE-1E6F626B4CB5}"/>
              </a:ext>
            </a:extLst>
          </p:cNvPr>
          <p:cNvSpPr/>
          <p:nvPr/>
        </p:nvSpPr>
        <p:spPr>
          <a:xfrm>
            <a:off x="8864600" y="3848100"/>
            <a:ext cx="152400" cy="1524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2851663-092A-B78F-9604-C4CBECD86E1C}"/>
              </a:ext>
            </a:extLst>
          </p:cNvPr>
          <p:cNvSpPr txBox="1"/>
          <p:nvPr/>
        </p:nvSpPr>
        <p:spPr>
          <a:xfrm>
            <a:off x="10541000" y="3822700"/>
            <a:ext cx="1016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p=0.02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EB3CD74-CC0D-B812-3552-2A6C96400D69}"/>
              </a:ext>
            </a:extLst>
          </p:cNvPr>
          <p:cNvSpPr txBox="1"/>
          <p:nvPr/>
        </p:nvSpPr>
        <p:spPr>
          <a:xfrm>
            <a:off x="609600" y="4254500"/>
            <a:ext cx="119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Metric C</a:t>
            </a:r>
            <a:endParaRPr lang="zh-CN" altLang="en-US" sz="105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B0B5F96-A17E-A089-EA08-AA0E2440B013}"/>
              </a:ext>
            </a:extLst>
          </p:cNvPr>
          <p:cNvCxnSpPr/>
          <p:nvPr/>
        </p:nvCxnSpPr>
        <p:spPr>
          <a:xfrm>
            <a:off x="6781800" y="4356100"/>
            <a:ext cx="1209040" cy="0"/>
          </a:xfrm>
          <a:prstGeom prst="line">
            <a:avLst/>
          </a:prstGeom>
          <a:ln w="5080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1DC38DD5-88D7-0256-22CB-7ED197A5C6F3}"/>
              </a:ext>
            </a:extLst>
          </p:cNvPr>
          <p:cNvSpPr/>
          <p:nvPr/>
        </p:nvSpPr>
        <p:spPr>
          <a:xfrm>
            <a:off x="6718300" y="4292600"/>
            <a:ext cx="127000" cy="127000"/>
          </a:xfrm>
          <a:prstGeom prst="ellipse">
            <a:avLst/>
          </a:prstGeom>
          <a:solidFill>
            <a:srgbClr val="7A8792"/>
          </a:solidFill>
          <a:ln w="10160">
            <a:solidFill>
              <a:srgbClr val="7A8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E0D48402-F14B-00A0-E5AC-EF54EF82BA52}"/>
              </a:ext>
            </a:extLst>
          </p:cNvPr>
          <p:cNvSpPr/>
          <p:nvPr/>
        </p:nvSpPr>
        <p:spPr>
          <a:xfrm>
            <a:off x="7914640" y="4279900"/>
            <a:ext cx="152400" cy="1524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F215C69-D261-150B-18C7-F1208EFA288E}"/>
              </a:ext>
            </a:extLst>
          </p:cNvPr>
          <p:cNvSpPr txBox="1"/>
          <p:nvPr/>
        </p:nvSpPr>
        <p:spPr>
          <a:xfrm>
            <a:off x="10541000" y="4254500"/>
            <a:ext cx="1016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p=0.03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619CB26-E332-EC7B-8789-CBBEF0BF1357}"/>
              </a:ext>
            </a:extLst>
          </p:cNvPr>
          <p:cNvSpPr txBox="1"/>
          <p:nvPr/>
        </p:nvSpPr>
        <p:spPr>
          <a:xfrm>
            <a:off x="609600" y="4686300"/>
            <a:ext cx="119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Metric D</a:t>
            </a:r>
            <a:endParaRPr lang="zh-CN" altLang="en-US" sz="105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497EBD9-B45F-B6B4-2E3E-BD8E92E440A5}"/>
              </a:ext>
            </a:extLst>
          </p:cNvPr>
          <p:cNvCxnSpPr/>
          <p:nvPr/>
        </p:nvCxnSpPr>
        <p:spPr>
          <a:xfrm>
            <a:off x="8422640" y="4787900"/>
            <a:ext cx="690880" cy="0"/>
          </a:xfrm>
          <a:prstGeom prst="line">
            <a:avLst/>
          </a:prstGeom>
          <a:ln w="5080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332582A1-4F84-DB40-8776-E7CF0ACF3266}"/>
              </a:ext>
            </a:extLst>
          </p:cNvPr>
          <p:cNvSpPr/>
          <p:nvPr/>
        </p:nvSpPr>
        <p:spPr>
          <a:xfrm>
            <a:off x="8359140" y="4724400"/>
            <a:ext cx="127000" cy="127000"/>
          </a:xfrm>
          <a:prstGeom prst="ellipse">
            <a:avLst/>
          </a:prstGeom>
          <a:solidFill>
            <a:srgbClr val="7A8792"/>
          </a:solidFill>
          <a:ln w="10160">
            <a:solidFill>
              <a:srgbClr val="7A8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2083C6EC-F827-984A-0A05-FFB4738F07DC}"/>
              </a:ext>
            </a:extLst>
          </p:cNvPr>
          <p:cNvSpPr/>
          <p:nvPr/>
        </p:nvSpPr>
        <p:spPr>
          <a:xfrm>
            <a:off x="9037320" y="4711700"/>
            <a:ext cx="152400" cy="1524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3E6DFA4-28AC-1187-FB70-36C9C3DFC75C}"/>
              </a:ext>
            </a:extLst>
          </p:cNvPr>
          <p:cNvSpPr txBox="1"/>
          <p:nvPr/>
        </p:nvSpPr>
        <p:spPr>
          <a:xfrm>
            <a:off x="10541000" y="4686300"/>
            <a:ext cx="1016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p=0.04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4394C8D-B8FD-E762-F271-12378910A649}"/>
              </a:ext>
            </a:extLst>
          </p:cNvPr>
          <p:cNvSpPr txBox="1"/>
          <p:nvPr/>
        </p:nvSpPr>
        <p:spPr>
          <a:xfrm>
            <a:off x="609600" y="5118100"/>
            <a:ext cx="119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5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Metric E</a:t>
            </a:r>
            <a:endParaRPr lang="zh-CN" altLang="en-US" sz="105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5BAD78A-A12C-72CE-8461-3CCC57AE844E}"/>
              </a:ext>
            </a:extLst>
          </p:cNvPr>
          <p:cNvCxnSpPr/>
          <p:nvPr/>
        </p:nvCxnSpPr>
        <p:spPr>
          <a:xfrm>
            <a:off x="7731760" y="5219700"/>
            <a:ext cx="863600" cy="0"/>
          </a:xfrm>
          <a:prstGeom prst="line">
            <a:avLst/>
          </a:prstGeom>
          <a:ln w="5080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F86A3800-94E7-3BD1-690A-5B8C0D65CFF9}"/>
              </a:ext>
            </a:extLst>
          </p:cNvPr>
          <p:cNvSpPr/>
          <p:nvPr/>
        </p:nvSpPr>
        <p:spPr>
          <a:xfrm>
            <a:off x="7668260" y="5156200"/>
            <a:ext cx="127000" cy="127000"/>
          </a:xfrm>
          <a:prstGeom prst="ellipse">
            <a:avLst/>
          </a:prstGeom>
          <a:solidFill>
            <a:srgbClr val="7A8792"/>
          </a:solidFill>
          <a:ln w="10160">
            <a:solidFill>
              <a:srgbClr val="7A8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59B18A2-C1D7-AB68-0741-6F331E1DC1A5}"/>
              </a:ext>
            </a:extLst>
          </p:cNvPr>
          <p:cNvSpPr/>
          <p:nvPr/>
        </p:nvSpPr>
        <p:spPr>
          <a:xfrm>
            <a:off x="8519160" y="5143500"/>
            <a:ext cx="152400" cy="1524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4A24CBE-30CD-5063-4D03-39D2AB355252}"/>
              </a:ext>
            </a:extLst>
          </p:cNvPr>
          <p:cNvSpPr txBox="1"/>
          <p:nvPr/>
        </p:nvSpPr>
        <p:spPr>
          <a:xfrm>
            <a:off x="10541000" y="5118100"/>
            <a:ext cx="1016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p=0.05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C3CF2EB-4F5D-27CE-7168-CEACA9816BF8}"/>
              </a:ext>
            </a:extLst>
          </p:cNvPr>
          <p:cNvSpPr txBox="1"/>
          <p:nvPr/>
        </p:nvSpPr>
        <p:spPr>
          <a:xfrm>
            <a:off x="609600" y="5740400"/>
            <a:ext cx="10972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 基线    ● 方法    误差：</a:t>
            </a:r>
            <a:r>
              <a:rPr lang="en-US" altLang="zh-CN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   n = __ </a:t>
            </a:r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次独立重复    示例数据</a:t>
            </a:r>
          </a:p>
        </p:txBody>
      </p:sp>
    </p:spTree>
    <p:extLst>
      <p:ext uri="{BB962C8B-B14F-4D97-AF65-F5344CB8AC3E}">
        <p14:creationId xmlns:p14="http://schemas.microsoft.com/office/powerpoint/2010/main" val="292588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65003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学习曲线与不确定性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0127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LEARNING CURVES &amp; UNCERTAINTY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3B8ED513-CF69-1253-DC5E-282726904247}"/>
              </a:ext>
            </a:extLst>
          </p:cNvPr>
          <p:cNvSpPr/>
          <p:nvPr/>
        </p:nvSpPr>
        <p:spPr>
          <a:xfrm>
            <a:off x="609600" y="1473200"/>
            <a:ext cx="5334000" cy="403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C743098-D6FE-8523-FEB9-AB59AFF5B696}"/>
              </a:ext>
            </a:extLst>
          </p:cNvPr>
          <p:cNvSpPr txBox="1"/>
          <p:nvPr/>
        </p:nvSpPr>
        <p:spPr>
          <a:xfrm>
            <a:off x="838200" y="1676400"/>
            <a:ext cx="381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训练与验证损失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AD5F503-5928-0B72-1011-7A435DBF01C6}"/>
              </a:ext>
            </a:extLst>
          </p:cNvPr>
          <p:cNvCxnSpPr/>
          <p:nvPr/>
        </p:nvCxnSpPr>
        <p:spPr>
          <a:xfrm>
            <a:off x="1168400" y="2311400"/>
            <a:ext cx="0" cy="241300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4650B25-9CB7-C540-ECB8-75A45110CC87}"/>
              </a:ext>
            </a:extLst>
          </p:cNvPr>
          <p:cNvCxnSpPr/>
          <p:nvPr/>
        </p:nvCxnSpPr>
        <p:spPr>
          <a:xfrm>
            <a:off x="1168400" y="4724400"/>
            <a:ext cx="4368800" cy="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F90EC13-6803-CCF8-B47C-3FA552209390}"/>
              </a:ext>
            </a:extLst>
          </p:cNvPr>
          <p:cNvCxnSpPr/>
          <p:nvPr/>
        </p:nvCxnSpPr>
        <p:spPr>
          <a:xfrm>
            <a:off x="1168400" y="412115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944A619-2AA6-85F3-6605-C65667A0E0C4}"/>
              </a:ext>
            </a:extLst>
          </p:cNvPr>
          <p:cNvCxnSpPr/>
          <p:nvPr/>
        </p:nvCxnSpPr>
        <p:spPr>
          <a:xfrm>
            <a:off x="1168400" y="351790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14BC84C-559F-5121-7B93-0232F2F54B57}"/>
              </a:ext>
            </a:extLst>
          </p:cNvPr>
          <p:cNvCxnSpPr/>
          <p:nvPr/>
        </p:nvCxnSpPr>
        <p:spPr>
          <a:xfrm>
            <a:off x="1168400" y="291465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DD03972-CA0E-9E27-8D39-36CB2F0DD4F1}"/>
              </a:ext>
            </a:extLst>
          </p:cNvPr>
          <p:cNvCxnSpPr/>
          <p:nvPr/>
        </p:nvCxnSpPr>
        <p:spPr>
          <a:xfrm>
            <a:off x="1168400" y="231140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B7AC906E-66AB-DC13-F4F7-7D28E34C97E7}"/>
              </a:ext>
            </a:extLst>
          </p:cNvPr>
          <p:cNvSpPr txBox="1"/>
          <p:nvPr/>
        </p:nvSpPr>
        <p:spPr>
          <a:xfrm>
            <a:off x="4267200" y="4813300"/>
            <a:ext cx="127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Epoch / Step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608B1ED-7B21-1C5C-9839-E89EF2B4107D}"/>
              </a:ext>
            </a:extLst>
          </p:cNvPr>
          <p:cNvSpPr txBox="1"/>
          <p:nvPr/>
        </p:nvSpPr>
        <p:spPr>
          <a:xfrm>
            <a:off x="1117600" y="20828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Loss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5B22212-4DE9-4460-25C7-FD4EA8F4DBA7}"/>
              </a:ext>
            </a:extLst>
          </p:cNvPr>
          <p:cNvSpPr/>
          <p:nvPr/>
        </p:nvSpPr>
        <p:spPr>
          <a:xfrm>
            <a:off x="1168400" y="3022600"/>
            <a:ext cx="4368800" cy="939800"/>
          </a:xfrm>
          <a:prstGeom prst="rect">
            <a:avLst/>
          </a:prstGeom>
          <a:solidFill>
            <a:srgbClr val="5F8AA8">
              <a:alpha val="18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4AE4CB6-74B4-CE61-1845-4132F0A5CB45}"/>
              </a:ext>
            </a:extLst>
          </p:cNvPr>
          <p:cNvCxnSpPr/>
          <p:nvPr/>
        </p:nvCxnSpPr>
        <p:spPr>
          <a:xfrm flipV="1">
            <a:off x="1270000" y="3937000"/>
            <a:ext cx="685800" cy="3556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A075D77-0ECF-5A41-8A84-356312AA54CD}"/>
              </a:ext>
            </a:extLst>
          </p:cNvPr>
          <p:cNvCxnSpPr/>
          <p:nvPr/>
        </p:nvCxnSpPr>
        <p:spPr>
          <a:xfrm flipV="1">
            <a:off x="1270000" y="4064000"/>
            <a:ext cx="685800" cy="3048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8BD2B4B-4D66-3148-4CBA-2FA04E6FBF72}"/>
              </a:ext>
            </a:extLst>
          </p:cNvPr>
          <p:cNvCxnSpPr/>
          <p:nvPr/>
        </p:nvCxnSpPr>
        <p:spPr>
          <a:xfrm flipV="1">
            <a:off x="1955800" y="3530600"/>
            <a:ext cx="685800" cy="4064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44CCB13-A733-0C7D-0EE2-0501ADFF47B0}"/>
              </a:ext>
            </a:extLst>
          </p:cNvPr>
          <p:cNvCxnSpPr/>
          <p:nvPr/>
        </p:nvCxnSpPr>
        <p:spPr>
          <a:xfrm flipV="1">
            <a:off x="1955800" y="3759200"/>
            <a:ext cx="685800" cy="3048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E73F951-9BB0-60FE-AD0E-139F45E4DD05}"/>
              </a:ext>
            </a:extLst>
          </p:cNvPr>
          <p:cNvCxnSpPr/>
          <p:nvPr/>
        </p:nvCxnSpPr>
        <p:spPr>
          <a:xfrm flipV="1">
            <a:off x="2641600" y="3200400"/>
            <a:ext cx="685800" cy="3302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4F879AA-16DB-F94B-39CB-22DF573D00AE}"/>
              </a:ext>
            </a:extLst>
          </p:cNvPr>
          <p:cNvCxnSpPr/>
          <p:nvPr/>
        </p:nvCxnSpPr>
        <p:spPr>
          <a:xfrm flipV="1">
            <a:off x="2641600" y="3556000"/>
            <a:ext cx="685800" cy="2032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F893E4D-DBAC-AFBA-679F-7AC2F26AD7BC}"/>
              </a:ext>
            </a:extLst>
          </p:cNvPr>
          <p:cNvCxnSpPr/>
          <p:nvPr/>
        </p:nvCxnSpPr>
        <p:spPr>
          <a:xfrm flipV="1">
            <a:off x="3327400" y="2959100"/>
            <a:ext cx="685800" cy="2413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0778974D-953A-147E-D519-9DA3DA34FFF0}"/>
              </a:ext>
            </a:extLst>
          </p:cNvPr>
          <p:cNvCxnSpPr/>
          <p:nvPr/>
        </p:nvCxnSpPr>
        <p:spPr>
          <a:xfrm flipV="1">
            <a:off x="3327400" y="3479800"/>
            <a:ext cx="685800" cy="762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89E2397-D37A-1177-88B2-2F228531A9B7}"/>
              </a:ext>
            </a:extLst>
          </p:cNvPr>
          <p:cNvCxnSpPr/>
          <p:nvPr/>
        </p:nvCxnSpPr>
        <p:spPr>
          <a:xfrm flipV="1">
            <a:off x="4013200" y="2794000"/>
            <a:ext cx="685800" cy="1651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B4C5146-699A-1237-A8B5-E3D7A4874CB4}"/>
              </a:ext>
            </a:extLst>
          </p:cNvPr>
          <p:cNvCxnSpPr/>
          <p:nvPr/>
        </p:nvCxnSpPr>
        <p:spPr>
          <a:xfrm>
            <a:off x="4013200" y="3479800"/>
            <a:ext cx="685800" cy="254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0B20443-CA13-10A3-728D-09A5BB2D46EC}"/>
              </a:ext>
            </a:extLst>
          </p:cNvPr>
          <p:cNvCxnSpPr/>
          <p:nvPr/>
        </p:nvCxnSpPr>
        <p:spPr>
          <a:xfrm flipV="1">
            <a:off x="4699000" y="2667000"/>
            <a:ext cx="685800" cy="1270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020203E-A32A-B613-A7C2-29F5124A35BF}"/>
              </a:ext>
            </a:extLst>
          </p:cNvPr>
          <p:cNvCxnSpPr/>
          <p:nvPr/>
        </p:nvCxnSpPr>
        <p:spPr>
          <a:xfrm>
            <a:off x="4699000" y="3505200"/>
            <a:ext cx="685800" cy="1016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641FF26-8968-8EC1-0C91-7735727949A4}"/>
              </a:ext>
            </a:extLst>
          </p:cNvPr>
          <p:cNvCxnSpPr/>
          <p:nvPr/>
        </p:nvCxnSpPr>
        <p:spPr>
          <a:xfrm>
            <a:off x="4699000" y="2311400"/>
            <a:ext cx="0" cy="2413000"/>
          </a:xfrm>
          <a:prstGeom prst="line">
            <a:avLst/>
          </a:prstGeom>
          <a:ln w="12700">
            <a:solidFill>
              <a:srgbClr val="A64A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57A4FA9A-2A28-3276-FB78-FF053752B799}"/>
              </a:ext>
            </a:extLst>
          </p:cNvPr>
          <p:cNvSpPr txBox="1"/>
          <p:nvPr/>
        </p:nvSpPr>
        <p:spPr>
          <a:xfrm>
            <a:off x="4495800" y="4749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A64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best</a:t>
            </a:r>
            <a:endParaRPr lang="zh-CN" altLang="en-US" sz="1000" b="1">
              <a:solidFill>
                <a:srgbClr val="A64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82DE437-3DC9-B483-02F2-4833542209B2}"/>
              </a:ext>
            </a:extLst>
          </p:cNvPr>
          <p:cNvSpPr/>
          <p:nvPr/>
        </p:nvSpPr>
        <p:spPr>
          <a:xfrm>
            <a:off x="6248400" y="1473200"/>
            <a:ext cx="5334000" cy="403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60FAB58-2E6A-CD4F-6E80-FB2B0722A402}"/>
              </a:ext>
            </a:extLst>
          </p:cNvPr>
          <p:cNvSpPr txBox="1"/>
          <p:nvPr/>
        </p:nvSpPr>
        <p:spPr>
          <a:xfrm>
            <a:off x="6477000" y="1676400"/>
            <a:ext cx="381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主指标与泛化差距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83F72CD-EBF0-80C0-310C-6BE0BBE45E88}"/>
              </a:ext>
            </a:extLst>
          </p:cNvPr>
          <p:cNvCxnSpPr/>
          <p:nvPr/>
        </p:nvCxnSpPr>
        <p:spPr>
          <a:xfrm>
            <a:off x="6807200" y="2311400"/>
            <a:ext cx="0" cy="241300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4724F74-D9F1-86D7-C760-F1E03F1AD909}"/>
              </a:ext>
            </a:extLst>
          </p:cNvPr>
          <p:cNvCxnSpPr/>
          <p:nvPr/>
        </p:nvCxnSpPr>
        <p:spPr>
          <a:xfrm>
            <a:off x="6807200" y="4724400"/>
            <a:ext cx="4368800" cy="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B013F0C-FEC3-F909-A858-4D2B54298033}"/>
              </a:ext>
            </a:extLst>
          </p:cNvPr>
          <p:cNvCxnSpPr/>
          <p:nvPr/>
        </p:nvCxnSpPr>
        <p:spPr>
          <a:xfrm>
            <a:off x="6807200" y="412115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FB40A18-12DC-740D-3F55-13899332A78C}"/>
              </a:ext>
            </a:extLst>
          </p:cNvPr>
          <p:cNvCxnSpPr/>
          <p:nvPr/>
        </p:nvCxnSpPr>
        <p:spPr>
          <a:xfrm>
            <a:off x="6807200" y="351790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E462DA8-9C67-9DC8-4F41-9CA02105E635}"/>
              </a:ext>
            </a:extLst>
          </p:cNvPr>
          <p:cNvCxnSpPr/>
          <p:nvPr/>
        </p:nvCxnSpPr>
        <p:spPr>
          <a:xfrm>
            <a:off x="6807200" y="291465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34C2C82-BB98-CF6D-6B05-01B525E8B777}"/>
              </a:ext>
            </a:extLst>
          </p:cNvPr>
          <p:cNvCxnSpPr/>
          <p:nvPr/>
        </p:nvCxnSpPr>
        <p:spPr>
          <a:xfrm>
            <a:off x="6807200" y="2311400"/>
            <a:ext cx="43688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3CA2FB23-4477-D756-A850-BA4A5601EFBE}"/>
              </a:ext>
            </a:extLst>
          </p:cNvPr>
          <p:cNvSpPr txBox="1"/>
          <p:nvPr/>
        </p:nvSpPr>
        <p:spPr>
          <a:xfrm>
            <a:off x="9906000" y="4813300"/>
            <a:ext cx="127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Epoch / Step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104F8FE-200F-301D-68D0-B774A1C4EF5D}"/>
              </a:ext>
            </a:extLst>
          </p:cNvPr>
          <p:cNvSpPr txBox="1"/>
          <p:nvPr/>
        </p:nvSpPr>
        <p:spPr>
          <a:xfrm>
            <a:off x="6756400" y="20828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Metric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EA23530-5620-0CCF-2CFB-20E2366832A2}"/>
              </a:ext>
            </a:extLst>
          </p:cNvPr>
          <p:cNvSpPr/>
          <p:nvPr/>
        </p:nvSpPr>
        <p:spPr>
          <a:xfrm>
            <a:off x="6807200" y="3022600"/>
            <a:ext cx="4368800" cy="939800"/>
          </a:xfrm>
          <a:prstGeom prst="rect">
            <a:avLst/>
          </a:prstGeom>
          <a:solidFill>
            <a:srgbClr val="5F8AA8">
              <a:alpha val="18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47BB0493-0239-3157-10DC-DE5BA9020FA0}"/>
              </a:ext>
            </a:extLst>
          </p:cNvPr>
          <p:cNvCxnSpPr/>
          <p:nvPr/>
        </p:nvCxnSpPr>
        <p:spPr>
          <a:xfrm flipV="1">
            <a:off x="6908800" y="3937000"/>
            <a:ext cx="685800" cy="3810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E1711F4-7929-DFDD-0081-5000B722D15E}"/>
              </a:ext>
            </a:extLst>
          </p:cNvPr>
          <p:cNvCxnSpPr/>
          <p:nvPr/>
        </p:nvCxnSpPr>
        <p:spPr>
          <a:xfrm flipV="1">
            <a:off x="6908800" y="4064000"/>
            <a:ext cx="685800" cy="3302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75AA1EE3-BDDD-FF49-F655-2410D95BB4D6}"/>
              </a:ext>
            </a:extLst>
          </p:cNvPr>
          <p:cNvCxnSpPr/>
          <p:nvPr/>
        </p:nvCxnSpPr>
        <p:spPr>
          <a:xfrm flipV="1">
            <a:off x="7594600" y="3492500"/>
            <a:ext cx="685800" cy="4445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DAE11AA-3677-8874-6884-ADB8ECD8C04A}"/>
              </a:ext>
            </a:extLst>
          </p:cNvPr>
          <p:cNvCxnSpPr/>
          <p:nvPr/>
        </p:nvCxnSpPr>
        <p:spPr>
          <a:xfrm flipV="1">
            <a:off x="7594600" y="3708400"/>
            <a:ext cx="685800" cy="3556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1F01AAC-320E-9BC9-E03F-4BB0A824870C}"/>
              </a:ext>
            </a:extLst>
          </p:cNvPr>
          <p:cNvCxnSpPr/>
          <p:nvPr/>
        </p:nvCxnSpPr>
        <p:spPr>
          <a:xfrm flipV="1">
            <a:off x="8280400" y="3124200"/>
            <a:ext cx="685800" cy="3683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A6BE8506-2F40-9B93-6761-EF5EC052DD31}"/>
              </a:ext>
            </a:extLst>
          </p:cNvPr>
          <p:cNvCxnSpPr/>
          <p:nvPr/>
        </p:nvCxnSpPr>
        <p:spPr>
          <a:xfrm flipV="1">
            <a:off x="8280400" y="3403600"/>
            <a:ext cx="685800" cy="3048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275F9AF2-5D52-5D4C-B0B4-C3B66ED245C9}"/>
              </a:ext>
            </a:extLst>
          </p:cNvPr>
          <p:cNvCxnSpPr/>
          <p:nvPr/>
        </p:nvCxnSpPr>
        <p:spPr>
          <a:xfrm flipV="1">
            <a:off x="8966200" y="2895600"/>
            <a:ext cx="685800" cy="2286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B12D018-8AF4-9D2A-6D46-A3DBA8995FBB}"/>
              </a:ext>
            </a:extLst>
          </p:cNvPr>
          <p:cNvCxnSpPr/>
          <p:nvPr/>
        </p:nvCxnSpPr>
        <p:spPr>
          <a:xfrm flipV="1">
            <a:off x="8966200" y="3251200"/>
            <a:ext cx="685800" cy="1524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408E1AE-CBB1-2CF2-6D75-377FD6A4CDF6}"/>
              </a:ext>
            </a:extLst>
          </p:cNvPr>
          <p:cNvCxnSpPr/>
          <p:nvPr/>
        </p:nvCxnSpPr>
        <p:spPr>
          <a:xfrm flipV="1">
            <a:off x="9652000" y="2794000"/>
            <a:ext cx="685800" cy="1016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71FEC8FE-2053-3119-1BE7-5D74652F4A8D}"/>
              </a:ext>
            </a:extLst>
          </p:cNvPr>
          <p:cNvCxnSpPr/>
          <p:nvPr/>
        </p:nvCxnSpPr>
        <p:spPr>
          <a:xfrm>
            <a:off x="9652000" y="3251200"/>
            <a:ext cx="685800" cy="254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690B8CD6-58AE-BBEC-7216-265C5B7F046A}"/>
              </a:ext>
            </a:extLst>
          </p:cNvPr>
          <p:cNvCxnSpPr/>
          <p:nvPr/>
        </p:nvCxnSpPr>
        <p:spPr>
          <a:xfrm flipV="1">
            <a:off x="10337800" y="2768600"/>
            <a:ext cx="685800" cy="25400"/>
          </a:xfrm>
          <a:prstGeom prst="line">
            <a:avLst/>
          </a:prstGeom>
          <a:ln w="31750">
            <a:solidFill>
              <a:srgbClr val="024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40CAEB14-DC41-DB06-8899-3101A735D0CC}"/>
              </a:ext>
            </a:extLst>
          </p:cNvPr>
          <p:cNvCxnSpPr/>
          <p:nvPr/>
        </p:nvCxnSpPr>
        <p:spPr>
          <a:xfrm>
            <a:off x="10337800" y="3276600"/>
            <a:ext cx="685800" cy="101600"/>
          </a:xfrm>
          <a:prstGeom prst="line">
            <a:avLst/>
          </a:prstGeom>
          <a:ln w="3175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0CA2B2A-016E-992D-0D2B-3BA608AD45DC}"/>
              </a:ext>
            </a:extLst>
          </p:cNvPr>
          <p:cNvCxnSpPr/>
          <p:nvPr/>
        </p:nvCxnSpPr>
        <p:spPr>
          <a:xfrm>
            <a:off x="10337800" y="2311400"/>
            <a:ext cx="0" cy="2413000"/>
          </a:xfrm>
          <a:prstGeom prst="line">
            <a:avLst/>
          </a:prstGeom>
          <a:ln w="12700">
            <a:solidFill>
              <a:srgbClr val="A64A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56989995-5FAC-BDA0-27DB-3D5CE6A6A787}"/>
              </a:ext>
            </a:extLst>
          </p:cNvPr>
          <p:cNvSpPr txBox="1"/>
          <p:nvPr/>
        </p:nvSpPr>
        <p:spPr>
          <a:xfrm>
            <a:off x="10134600" y="4749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A64A4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best</a:t>
            </a:r>
            <a:endParaRPr lang="zh-CN" altLang="en-US" sz="1000" b="1">
              <a:solidFill>
                <a:srgbClr val="A64A45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6E0D5ACD-9BEB-18EC-439E-8A8D0E94FB70}"/>
              </a:ext>
            </a:extLst>
          </p:cNvPr>
          <p:cNvSpPr txBox="1"/>
          <p:nvPr/>
        </p:nvSpPr>
        <p:spPr>
          <a:xfrm>
            <a:off x="609600" y="5715000"/>
            <a:ext cx="10972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均值曲线：蓝 </a:t>
            </a:r>
            <a:r>
              <a:rPr lang="en-US" altLang="zh-CN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    置信带：</a:t>
            </a:r>
            <a:r>
              <a:rPr lang="en-US" altLang="zh-CN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   </a:t>
            </a:r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红色虚线：最佳 </a:t>
            </a:r>
            <a:r>
              <a:rPr lang="en-US" altLang="zh-CN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    </a:t>
            </a:r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示例数据</a:t>
            </a:r>
          </a:p>
        </p:txBody>
      </p:sp>
    </p:spTree>
    <p:extLst>
      <p:ext uri="{BB962C8B-B14F-4D97-AF65-F5344CB8AC3E}">
        <p14:creationId xmlns:p14="http://schemas.microsoft.com/office/powerpoint/2010/main" val="114684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65003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混淆矩阵与分类诊断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68030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CONFUSION MATRIX &amp; CLASS DIAGNOSTICS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DF28BE0B-2740-1182-1D07-E305C514B76F}"/>
              </a:ext>
            </a:extLst>
          </p:cNvPr>
          <p:cNvSpPr txBox="1"/>
          <p:nvPr/>
        </p:nvSpPr>
        <p:spPr>
          <a:xfrm>
            <a:off x="609600" y="1422400"/>
            <a:ext cx="685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按真实类别行归一化（示例）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395E157-243A-A3B6-FA75-32996B71E638}"/>
              </a:ext>
            </a:extLst>
          </p:cNvPr>
          <p:cNvCxnSpPr/>
          <p:nvPr/>
        </p:nvCxnSpPr>
        <p:spPr>
          <a:xfrm>
            <a:off x="609600" y="1739900"/>
            <a:ext cx="68580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91A72B05-FD78-7DFA-4A4A-A0A1242D7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35549"/>
              </p:ext>
            </p:extLst>
          </p:nvPr>
        </p:nvGraphicFramePr>
        <p:xfrm>
          <a:off x="609600" y="1955800"/>
          <a:ext cx="685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5117156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2226522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4637733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9865855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28552697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True \\ Pred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A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B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C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D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758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A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0.82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0.08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0.06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0.04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58691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B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0.07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0.76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0.12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0.05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6434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C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0.03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0.10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0.80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0.07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8304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D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0.04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0.05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0.09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0.82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20930"/>
                  </a:ext>
                </a:extLst>
              </a:tr>
            </a:tbl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C5ED4118-E60F-6139-2372-78995C73E381}"/>
              </a:ext>
            </a:extLst>
          </p:cNvPr>
          <p:cNvSpPr txBox="1"/>
          <p:nvPr/>
        </p:nvSpPr>
        <p:spPr>
          <a:xfrm>
            <a:off x="7874000" y="1422400"/>
            <a:ext cx="37084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每类诊断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4923457-A3BB-6E14-2C31-9DB41E31325B}"/>
              </a:ext>
            </a:extLst>
          </p:cNvPr>
          <p:cNvCxnSpPr/>
          <p:nvPr/>
        </p:nvCxnSpPr>
        <p:spPr>
          <a:xfrm>
            <a:off x="7874000" y="1739900"/>
            <a:ext cx="37084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6B6D005-9FEE-B191-5AE3-69F209A5B978}"/>
              </a:ext>
            </a:extLst>
          </p:cNvPr>
          <p:cNvSpPr txBox="1"/>
          <p:nvPr/>
        </p:nvSpPr>
        <p:spPr>
          <a:xfrm>
            <a:off x="7874000" y="2209800"/>
            <a:ext cx="3048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1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1EAFE7-F18D-8106-BD36-70C002BE1613}"/>
              </a:ext>
            </a:extLst>
          </p:cNvPr>
          <p:cNvSpPr/>
          <p:nvPr/>
        </p:nvSpPr>
        <p:spPr>
          <a:xfrm>
            <a:off x="8331200" y="2235200"/>
            <a:ext cx="2667000" cy="1651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C509718-A5AF-7BDF-F24A-8043E5508573}"/>
              </a:ext>
            </a:extLst>
          </p:cNvPr>
          <p:cNvSpPr/>
          <p:nvPr/>
        </p:nvSpPr>
        <p:spPr>
          <a:xfrm>
            <a:off x="8331200" y="2235200"/>
            <a:ext cx="2240280" cy="165100"/>
          </a:xfrm>
          <a:prstGeom prst="rect">
            <a:avLst/>
          </a:prstGeom>
          <a:solidFill>
            <a:srgbClr val="02428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1A15CC0-280D-A69F-300B-634FE2B0CAAF}"/>
              </a:ext>
            </a:extLst>
          </p:cNvPr>
          <p:cNvSpPr txBox="1"/>
          <p:nvPr/>
        </p:nvSpPr>
        <p:spPr>
          <a:xfrm>
            <a:off x="10998200" y="2184400"/>
            <a:ext cx="5842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F1 0.84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A36936F-92AA-2389-C6B4-E26B4226EA18}"/>
              </a:ext>
            </a:extLst>
          </p:cNvPr>
          <p:cNvSpPr txBox="1"/>
          <p:nvPr/>
        </p:nvSpPr>
        <p:spPr>
          <a:xfrm>
            <a:off x="7874000" y="2921000"/>
            <a:ext cx="3048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1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CB8DE02-B523-EDA2-A961-2C99969091C0}"/>
              </a:ext>
            </a:extLst>
          </p:cNvPr>
          <p:cNvSpPr/>
          <p:nvPr/>
        </p:nvSpPr>
        <p:spPr>
          <a:xfrm>
            <a:off x="8331200" y="2946400"/>
            <a:ext cx="2667000" cy="1651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D89FE4B-6A04-E789-DB02-F44C3AEF0049}"/>
              </a:ext>
            </a:extLst>
          </p:cNvPr>
          <p:cNvSpPr/>
          <p:nvPr/>
        </p:nvSpPr>
        <p:spPr>
          <a:xfrm>
            <a:off x="8331200" y="2946400"/>
            <a:ext cx="2080260" cy="165100"/>
          </a:xfrm>
          <a:prstGeom prst="rect">
            <a:avLst/>
          </a:prstGeom>
          <a:solidFill>
            <a:srgbClr val="D8A54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B3303B1-A60F-F881-A8F7-39CAC84B58BA}"/>
              </a:ext>
            </a:extLst>
          </p:cNvPr>
          <p:cNvSpPr txBox="1"/>
          <p:nvPr/>
        </p:nvSpPr>
        <p:spPr>
          <a:xfrm>
            <a:off x="10998200" y="2895600"/>
            <a:ext cx="5842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F1 0.78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5E26257-8188-BEC7-FA12-75FDA5B387C4}"/>
              </a:ext>
            </a:extLst>
          </p:cNvPr>
          <p:cNvSpPr txBox="1"/>
          <p:nvPr/>
        </p:nvSpPr>
        <p:spPr>
          <a:xfrm>
            <a:off x="7874000" y="3632200"/>
            <a:ext cx="3048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</a:t>
            </a:r>
            <a:endParaRPr lang="zh-CN" altLang="en-US" sz="11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4E9588-DA63-476C-1614-49DBA2F08D1E}"/>
              </a:ext>
            </a:extLst>
          </p:cNvPr>
          <p:cNvSpPr/>
          <p:nvPr/>
        </p:nvSpPr>
        <p:spPr>
          <a:xfrm>
            <a:off x="8331200" y="3657600"/>
            <a:ext cx="2667000" cy="1651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B0E95B4-94DA-EBE3-C609-4CAC421F6F28}"/>
              </a:ext>
            </a:extLst>
          </p:cNvPr>
          <p:cNvSpPr/>
          <p:nvPr/>
        </p:nvSpPr>
        <p:spPr>
          <a:xfrm>
            <a:off x="8331200" y="3657600"/>
            <a:ext cx="2160270" cy="165100"/>
          </a:xfrm>
          <a:prstGeom prst="rect">
            <a:avLst/>
          </a:prstGeom>
          <a:solidFill>
            <a:srgbClr val="02428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AD9D70C-AAF7-81AE-5404-7ED89B8D7294}"/>
              </a:ext>
            </a:extLst>
          </p:cNvPr>
          <p:cNvSpPr txBox="1"/>
          <p:nvPr/>
        </p:nvSpPr>
        <p:spPr>
          <a:xfrm>
            <a:off x="10998200" y="3606800"/>
            <a:ext cx="5842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F1 0.81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E1FCAE5-257E-F17D-0A05-07635ED6E688}"/>
              </a:ext>
            </a:extLst>
          </p:cNvPr>
          <p:cNvSpPr txBox="1"/>
          <p:nvPr/>
        </p:nvSpPr>
        <p:spPr>
          <a:xfrm>
            <a:off x="7874000" y="4343400"/>
            <a:ext cx="3048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</a:t>
            </a:r>
            <a:endParaRPr lang="zh-CN" altLang="en-US" sz="11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BCDC24B-767E-2643-955A-139289A56D7F}"/>
              </a:ext>
            </a:extLst>
          </p:cNvPr>
          <p:cNvSpPr/>
          <p:nvPr/>
        </p:nvSpPr>
        <p:spPr>
          <a:xfrm>
            <a:off x="8331200" y="4368800"/>
            <a:ext cx="2667000" cy="165100"/>
          </a:xfrm>
          <a:prstGeom prst="rect">
            <a:avLst/>
          </a:prstGeom>
          <a:solidFill>
            <a:srgbClr val="EEF2F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FC1CAC9-6CED-20E0-9123-176F09A04E9D}"/>
              </a:ext>
            </a:extLst>
          </p:cNvPr>
          <p:cNvSpPr/>
          <p:nvPr/>
        </p:nvSpPr>
        <p:spPr>
          <a:xfrm>
            <a:off x="8331200" y="4368800"/>
            <a:ext cx="2213610" cy="165100"/>
          </a:xfrm>
          <a:prstGeom prst="rect">
            <a:avLst/>
          </a:prstGeom>
          <a:solidFill>
            <a:srgbClr val="02428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29DC8A1-8262-8DA7-6E7C-CAD6648014AB}"/>
              </a:ext>
            </a:extLst>
          </p:cNvPr>
          <p:cNvSpPr txBox="1"/>
          <p:nvPr/>
        </p:nvSpPr>
        <p:spPr>
          <a:xfrm>
            <a:off x="10998200" y="4318000"/>
            <a:ext cx="5842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F1 0.83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0AD0E3B-0705-38FA-B2B4-AFD74364DC2E}"/>
              </a:ext>
            </a:extLst>
          </p:cNvPr>
          <p:cNvSpPr/>
          <p:nvPr/>
        </p:nvSpPr>
        <p:spPr>
          <a:xfrm>
            <a:off x="7874000" y="5054600"/>
            <a:ext cx="3708400" cy="7112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BE40B1C-8879-2B3A-908E-63BCB635BFB7}"/>
              </a:ext>
            </a:extLst>
          </p:cNvPr>
          <p:cNvSpPr txBox="1"/>
          <p:nvPr/>
        </p:nvSpPr>
        <p:spPr>
          <a:xfrm>
            <a:off x="8051800" y="5207000"/>
            <a:ext cx="3352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1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诊断结论：错误主要集中在 </a:t>
            </a:r>
            <a:r>
              <a:rPr lang="en-US" altLang="zh-CN" sz="11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B→C</a:t>
            </a:r>
            <a:r>
              <a:rPr lang="zh-CN" altLang="en-US" sz="11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；检查标签边界与样本不平衡。</a:t>
            </a:r>
          </a:p>
        </p:txBody>
      </p:sp>
    </p:spTree>
    <p:extLst>
      <p:ext uri="{BB962C8B-B14F-4D97-AF65-F5344CB8AC3E}">
        <p14:creationId xmlns:p14="http://schemas.microsoft.com/office/powerpoint/2010/main" val="292523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46115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组件消融与超参数敏感性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09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ABLATION &amp; SENSITIVITY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5605DA76-AA6A-C76D-4AAA-47F5EA95091C}"/>
              </a:ext>
            </a:extLst>
          </p:cNvPr>
          <p:cNvSpPr txBox="1"/>
          <p:nvPr/>
        </p:nvSpPr>
        <p:spPr>
          <a:xfrm>
            <a:off x="609600" y="1422400"/>
            <a:ext cx="5892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组件消融：所有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相对同一基线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AA1BA90-EC2E-6484-D8FF-EC7E639C9602}"/>
              </a:ext>
            </a:extLst>
          </p:cNvPr>
          <p:cNvCxnSpPr/>
          <p:nvPr/>
        </p:nvCxnSpPr>
        <p:spPr>
          <a:xfrm>
            <a:off x="609600" y="1739900"/>
            <a:ext cx="58928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4CF80F39-2AA7-8D7D-7528-3F41FFD68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256672"/>
              </p:ext>
            </p:extLst>
          </p:nvPr>
        </p:nvGraphicFramePr>
        <p:xfrm>
          <a:off x="609600" y="1955800"/>
          <a:ext cx="5892798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33">
                  <a:extLst>
                    <a:ext uri="{9D8B030D-6E8A-4147-A177-3AD203B41FA5}">
                      <a16:colId xmlns:a16="http://schemas.microsoft.com/office/drawing/2014/main" val="3129215238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572196945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1653158364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1485998273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1129764651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302023801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配置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A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B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C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主指标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altLang="zh-CN" sz="1100" b="1">
                          <a:solidFill>
                            <a:srgbClr val="123B5D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Δ</a:t>
                      </a:r>
                      <a:endParaRPr lang="zh-CN" altLang="en-US" sz="1100" b="1">
                        <a:solidFill>
                          <a:srgbClr val="123B5D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4226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Baseline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0.742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0.000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1987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+ A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✓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0.768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+0.026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06022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+ A + B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✓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✓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0.791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+0.049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93411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Full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✓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✓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✓</a:t>
                      </a: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0.806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50" b="0">
                          <a:solidFill>
                            <a:srgbClr val="17212B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+0.064</a:t>
                      </a:r>
                      <a:endParaRPr lang="zh-CN" altLang="en-US" sz="1050" b="0">
                        <a:solidFill>
                          <a:srgbClr val="17212B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</a:endParaRPr>
                    </a:p>
                  </a:txBody>
                  <a:tcPr marL="50800" marR="50800" anchor="ctr">
                    <a:lnL w="7620" cmpd="sng">
                      <a:solidFill>
                        <a:srgbClr val="DFE5EA"/>
                      </a:solidFill>
                    </a:lnL>
                    <a:lnR w="7620" cmpd="sng">
                      <a:solidFill>
                        <a:srgbClr val="DFE5EA"/>
                      </a:solidFill>
                    </a:lnR>
                    <a:lnT w="7620" cmpd="sng">
                      <a:solidFill>
                        <a:srgbClr val="DFE5EA"/>
                      </a:solidFill>
                    </a:lnT>
                    <a:lnB w="7620" cmpd="sng">
                      <a:solidFill>
                        <a:srgbClr val="DFE5EA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79502"/>
                  </a:ext>
                </a:extLst>
              </a:tr>
            </a:tbl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F56DDBD6-F6B6-B158-32B6-2E03BDD8BBDF}"/>
              </a:ext>
            </a:extLst>
          </p:cNvPr>
          <p:cNvSpPr txBox="1"/>
          <p:nvPr/>
        </p:nvSpPr>
        <p:spPr>
          <a:xfrm>
            <a:off x="6908800" y="1422400"/>
            <a:ext cx="46736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二维敏感性：稳定区间而非单一最优点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D8932F8-9327-E422-E1CE-3ED1E4AD1BCD}"/>
              </a:ext>
            </a:extLst>
          </p:cNvPr>
          <p:cNvCxnSpPr/>
          <p:nvPr/>
        </p:nvCxnSpPr>
        <p:spPr>
          <a:xfrm>
            <a:off x="6908800" y="1739900"/>
            <a:ext cx="46736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9538B7E8-B9CA-D3CB-50A3-9E33F99407E7}"/>
              </a:ext>
            </a:extLst>
          </p:cNvPr>
          <p:cNvSpPr/>
          <p:nvPr/>
        </p:nvSpPr>
        <p:spPr>
          <a:xfrm>
            <a:off x="7493000" y="2108200"/>
            <a:ext cx="558800" cy="558800"/>
          </a:xfrm>
          <a:prstGeom prst="rect">
            <a:avLst/>
          </a:prstGeom>
          <a:solidFill>
            <a:srgbClr val="024282">
              <a:alpha val="18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DB09E81-193B-F159-795B-23B7D22C252C}"/>
              </a:ext>
            </a:extLst>
          </p:cNvPr>
          <p:cNvSpPr txBox="1"/>
          <p:nvPr/>
        </p:nvSpPr>
        <p:spPr>
          <a:xfrm>
            <a:off x="7518400" y="22860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0.62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F4C494-11A8-E774-7484-A9F5793090D8}"/>
              </a:ext>
            </a:extLst>
          </p:cNvPr>
          <p:cNvSpPr/>
          <p:nvPr/>
        </p:nvSpPr>
        <p:spPr>
          <a:xfrm>
            <a:off x="8102600" y="21082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6B36FA-C269-FFEB-8898-90328670F88C}"/>
              </a:ext>
            </a:extLst>
          </p:cNvPr>
          <p:cNvSpPr txBox="1"/>
          <p:nvPr/>
        </p:nvSpPr>
        <p:spPr>
          <a:xfrm>
            <a:off x="8128000" y="22860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A0D5EC5-5F8A-93C1-5449-40367C2B4399}"/>
              </a:ext>
            </a:extLst>
          </p:cNvPr>
          <p:cNvSpPr/>
          <p:nvPr/>
        </p:nvSpPr>
        <p:spPr>
          <a:xfrm>
            <a:off x="8712200" y="21082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9258DDA-AE8A-A451-8FCA-314D578A003F}"/>
              </a:ext>
            </a:extLst>
          </p:cNvPr>
          <p:cNvSpPr txBox="1"/>
          <p:nvPr/>
        </p:nvSpPr>
        <p:spPr>
          <a:xfrm>
            <a:off x="8737600" y="22860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BF0AC12-5AC7-C8A4-0F4A-B4A2B8927709}"/>
              </a:ext>
            </a:extLst>
          </p:cNvPr>
          <p:cNvSpPr/>
          <p:nvPr/>
        </p:nvSpPr>
        <p:spPr>
          <a:xfrm>
            <a:off x="9321800" y="21082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9C35B62-4A9E-7679-5DDF-30D6B58EFDD3}"/>
              </a:ext>
            </a:extLst>
          </p:cNvPr>
          <p:cNvSpPr txBox="1"/>
          <p:nvPr/>
        </p:nvSpPr>
        <p:spPr>
          <a:xfrm>
            <a:off x="9347200" y="22860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605E53D-F250-F806-9D82-4F62C0B776E7}"/>
              </a:ext>
            </a:extLst>
          </p:cNvPr>
          <p:cNvSpPr/>
          <p:nvPr/>
        </p:nvSpPr>
        <p:spPr>
          <a:xfrm>
            <a:off x="9931400" y="2108200"/>
            <a:ext cx="558800" cy="558800"/>
          </a:xfrm>
          <a:prstGeom prst="rect">
            <a:avLst/>
          </a:prstGeom>
          <a:solidFill>
            <a:srgbClr val="024282">
              <a:alpha val="18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8D30238-BEAD-8D94-E5F6-CD84B28D6BBF}"/>
              </a:ext>
            </a:extLst>
          </p:cNvPr>
          <p:cNvSpPr txBox="1"/>
          <p:nvPr/>
        </p:nvSpPr>
        <p:spPr>
          <a:xfrm>
            <a:off x="9956800" y="22860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0.62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56CF249-388D-0CAD-0CEA-58B8BC399D5E}"/>
              </a:ext>
            </a:extLst>
          </p:cNvPr>
          <p:cNvSpPr/>
          <p:nvPr/>
        </p:nvSpPr>
        <p:spPr>
          <a:xfrm>
            <a:off x="7493000" y="27178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251CB5E-3CF6-13DB-5FC9-E5581287ED3B}"/>
              </a:ext>
            </a:extLst>
          </p:cNvPr>
          <p:cNvSpPr txBox="1"/>
          <p:nvPr/>
        </p:nvSpPr>
        <p:spPr>
          <a:xfrm>
            <a:off x="7518400" y="28956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8DFAE34-3E42-F02E-2E23-6BB972454E7B}"/>
              </a:ext>
            </a:extLst>
          </p:cNvPr>
          <p:cNvSpPr/>
          <p:nvPr/>
        </p:nvSpPr>
        <p:spPr>
          <a:xfrm>
            <a:off x="8102600" y="27178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A15B872-A34C-FFFE-151A-E5073327E96B}"/>
              </a:ext>
            </a:extLst>
          </p:cNvPr>
          <p:cNvSpPr txBox="1"/>
          <p:nvPr/>
        </p:nvSpPr>
        <p:spPr>
          <a:xfrm>
            <a:off x="8128000" y="28956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97C690B-165C-3822-3DDB-6AD30F6E18EE}"/>
              </a:ext>
            </a:extLst>
          </p:cNvPr>
          <p:cNvSpPr/>
          <p:nvPr/>
        </p:nvSpPr>
        <p:spPr>
          <a:xfrm>
            <a:off x="8712200" y="2717800"/>
            <a:ext cx="558800" cy="558800"/>
          </a:xfrm>
          <a:prstGeom prst="rect">
            <a:avLst/>
          </a:prstGeom>
          <a:solidFill>
            <a:srgbClr val="024282">
              <a:alpha val="37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343FA54-A9B1-DD4E-AEA8-C42AF5AB7476}"/>
              </a:ext>
            </a:extLst>
          </p:cNvPr>
          <p:cNvSpPr txBox="1"/>
          <p:nvPr/>
        </p:nvSpPr>
        <p:spPr>
          <a:xfrm>
            <a:off x="8737600" y="28956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0.70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473C72C-3A3F-7011-0A0E-806B8B14B4C7}"/>
              </a:ext>
            </a:extLst>
          </p:cNvPr>
          <p:cNvSpPr/>
          <p:nvPr/>
        </p:nvSpPr>
        <p:spPr>
          <a:xfrm>
            <a:off x="9321800" y="27178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7C913B6-2DF3-D2EE-5EC0-1366F09A0C2D}"/>
              </a:ext>
            </a:extLst>
          </p:cNvPr>
          <p:cNvSpPr txBox="1"/>
          <p:nvPr/>
        </p:nvSpPr>
        <p:spPr>
          <a:xfrm>
            <a:off x="9347200" y="28956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FC11510-3EA8-9EA8-274C-51CAC8038BF4}"/>
              </a:ext>
            </a:extLst>
          </p:cNvPr>
          <p:cNvSpPr/>
          <p:nvPr/>
        </p:nvSpPr>
        <p:spPr>
          <a:xfrm>
            <a:off x="9931400" y="27178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5348C02-017C-23CD-3841-21D13945D7A7}"/>
              </a:ext>
            </a:extLst>
          </p:cNvPr>
          <p:cNvSpPr txBox="1"/>
          <p:nvPr/>
        </p:nvSpPr>
        <p:spPr>
          <a:xfrm>
            <a:off x="9956800" y="28956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5E6015-42D7-A4ED-B0D4-DEAA1B161E4F}"/>
              </a:ext>
            </a:extLst>
          </p:cNvPr>
          <p:cNvSpPr/>
          <p:nvPr/>
        </p:nvSpPr>
        <p:spPr>
          <a:xfrm>
            <a:off x="7493000" y="33274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01B3863-0A08-8603-E208-0BBB4F12E707}"/>
              </a:ext>
            </a:extLst>
          </p:cNvPr>
          <p:cNvSpPr txBox="1"/>
          <p:nvPr/>
        </p:nvSpPr>
        <p:spPr>
          <a:xfrm>
            <a:off x="7518400" y="35052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EF912B4-C144-DF2C-5CE9-3C937A8B8685}"/>
              </a:ext>
            </a:extLst>
          </p:cNvPr>
          <p:cNvSpPr/>
          <p:nvPr/>
        </p:nvSpPr>
        <p:spPr>
          <a:xfrm>
            <a:off x="8102600" y="3327400"/>
            <a:ext cx="558800" cy="558800"/>
          </a:xfrm>
          <a:prstGeom prst="rect">
            <a:avLst/>
          </a:prstGeom>
          <a:solidFill>
            <a:srgbClr val="024282">
              <a:alpha val="37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71E0AD3-E5C9-ED80-D70A-4BD13C418682}"/>
              </a:ext>
            </a:extLst>
          </p:cNvPr>
          <p:cNvSpPr txBox="1"/>
          <p:nvPr/>
        </p:nvSpPr>
        <p:spPr>
          <a:xfrm>
            <a:off x="8128000" y="35052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0.70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EE767D1-98E6-E0CA-A287-89DBE523045E}"/>
              </a:ext>
            </a:extLst>
          </p:cNvPr>
          <p:cNvSpPr/>
          <p:nvPr/>
        </p:nvSpPr>
        <p:spPr>
          <a:xfrm>
            <a:off x="8712200" y="3327400"/>
            <a:ext cx="558800" cy="558800"/>
          </a:xfrm>
          <a:prstGeom prst="rect">
            <a:avLst/>
          </a:prstGeom>
          <a:solidFill>
            <a:srgbClr val="024282">
              <a:alpha val="44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CA960FF-6A0B-D9C1-FB47-EE00941FEEC0}"/>
              </a:ext>
            </a:extLst>
          </p:cNvPr>
          <p:cNvSpPr txBox="1"/>
          <p:nvPr/>
        </p:nvSpPr>
        <p:spPr>
          <a:xfrm>
            <a:off x="8737600" y="35052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0.72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F597BD4-89D0-E170-103A-6B2955F6EE6A}"/>
              </a:ext>
            </a:extLst>
          </p:cNvPr>
          <p:cNvSpPr/>
          <p:nvPr/>
        </p:nvSpPr>
        <p:spPr>
          <a:xfrm>
            <a:off x="9321800" y="3327400"/>
            <a:ext cx="558800" cy="558800"/>
          </a:xfrm>
          <a:prstGeom prst="rect">
            <a:avLst/>
          </a:prstGeom>
          <a:solidFill>
            <a:srgbClr val="024282">
              <a:alpha val="37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F5A53FA-9FEE-3CEC-9697-CBF8F1B3DE41}"/>
              </a:ext>
            </a:extLst>
          </p:cNvPr>
          <p:cNvSpPr txBox="1"/>
          <p:nvPr/>
        </p:nvSpPr>
        <p:spPr>
          <a:xfrm>
            <a:off x="9347200" y="35052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0.70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D402139-77C3-F3E5-6224-ECFFB35E33EF}"/>
              </a:ext>
            </a:extLst>
          </p:cNvPr>
          <p:cNvSpPr/>
          <p:nvPr/>
        </p:nvSpPr>
        <p:spPr>
          <a:xfrm>
            <a:off x="9931400" y="33274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955AD88-36A3-0835-EC88-CBE7C6583E7A}"/>
              </a:ext>
            </a:extLst>
          </p:cNvPr>
          <p:cNvSpPr txBox="1"/>
          <p:nvPr/>
        </p:nvSpPr>
        <p:spPr>
          <a:xfrm>
            <a:off x="9956800" y="35052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E2F8A54-BAD3-A54D-CED9-5855ED514A30}"/>
              </a:ext>
            </a:extLst>
          </p:cNvPr>
          <p:cNvSpPr/>
          <p:nvPr/>
        </p:nvSpPr>
        <p:spPr>
          <a:xfrm>
            <a:off x="7493000" y="39370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ADD4704-26B1-DBAF-F74D-4EAB4A2BD1D1}"/>
              </a:ext>
            </a:extLst>
          </p:cNvPr>
          <p:cNvSpPr txBox="1"/>
          <p:nvPr/>
        </p:nvSpPr>
        <p:spPr>
          <a:xfrm>
            <a:off x="7518400" y="41148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AB9022E-1E14-9E46-7726-19B00A0AC3B5}"/>
              </a:ext>
            </a:extLst>
          </p:cNvPr>
          <p:cNvSpPr/>
          <p:nvPr/>
        </p:nvSpPr>
        <p:spPr>
          <a:xfrm>
            <a:off x="8102600" y="39370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E4AEFC87-378E-9223-4C2F-FE0B80A0FB79}"/>
              </a:ext>
            </a:extLst>
          </p:cNvPr>
          <p:cNvSpPr txBox="1"/>
          <p:nvPr/>
        </p:nvSpPr>
        <p:spPr>
          <a:xfrm>
            <a:off x="8128000" y="41148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3B30C15-C320-E3C4-1D4E-294BC6C1E0AB}"/>
              </a:ext>
            </a:extLst>
          </p:cNvPr>
          <p:cNvSpPr/>
          <p:nvPr/>
        </p:nvSpPr>
        <p:spPr>
          <a:xfrm>
            <a:off x="8712200" y="3937000"/>
            <a:ext cx="558800" cy="558800"/>
          </a:xfrm>
          <a:prstGeom prst="rect">
            <a:avLst/>
          </a:prstGeom>
          <a:solidFill>
            <a:srgbClr val="024282">
              <a:alpha val="37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EB7235C-80DD-4E4E-E586-4D1395E63A21}"/>
              </a:ext>
            </a:extLst>
          </p:cNvPr>
          <p:cNvSpPr txBox="1"/>
          <p:nvPr/>
        </p:nvSpPr>
        <p:spPr>
          <a:xfrm>
            <a:off x="8737600" y="41148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0.70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D41AB5A-8D95-49EA-4F68-F34C203B5549}"/>
              </a:ext>
            </a:extLst>
          </p:cNvPr>
          <p:cNvSpPr/>
          <p:nvPr/>
        </p:nvSpPr>
        <p:spPr>
          <a:xfrm>
            <a:off x="9321800" y="39370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F54122A-D25A-8037-A139-967F9640543D}"/>
              </a:ext>
            </a:extLst>
          </p:cNvPr>
          <p:cNvSpPr txBox="1"/>
          <p:nvPr/>
        </p:nvSpPr>
        <p:spPr>
          <a:xfrm>
            <a:off x="9347200" y="41148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B3D42E6-FF0F-F39F-431D-DEC7D8DA7173}"/>
              </a:ext>
            </a:extLst>
          </p:cNvPr>
          <p:cNvSpPr/>
          <p:nvPr/>
        </p:nvSpPr>
        <p:spPr>
          <a:xfrm>
            <a:off x="9931400" y="39370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E2996AD-BC6C-DE45-40EF-39A7CD23C6CC}"/>
              </a:ext>
            </a:extLst>
          </p:cNvPr>
          <p:cNvSpPr txBox="1"/>
          <p:nvPr/>
        </p:nvSpPr>
        <p:spPr>
          <a:xfrm>
            <a:off x="9956800" y="41148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C6DEE2E-6CB7-8DF9-168C-4E0BB8025315}"/>
              </a:ext>
            </a:extLst>
          </p:cNvPr>
          <p:cNvSpPr/>
          <p:nvPr/>
        </p:nvSpPr>
        <p:spPr>
          <a:xfrm>
            <a:off x="7493000" y="4546600"/>
            <a:ext cx="558800" cy="558800"/>
          </a:xfrm>
          <a:prstGeom prst="rect">
            <a:avLst/>
          </a:prstGeom>
          <a:solidFill>
            <a:srgbClr val="024282">
              <a:alpha val="18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EC352E9-A220-DB12-C038-06707D8B99A3}"/>
              </a:ext>
            </a:extLst>
          </p:cNvPr>
          <p:cNvSpPr txBox="1"/>
          <p:nvPr/>
        </p:nvSpPr>
        <p:spPr>
          <a:xfrm>
            <a:off x="7518400" y="47244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0.62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45B4022-53A6-09B4-E7C1-E364083FFEAB}"/>
              </a:ext>
            </a:extLst>
          </p:cNvPr>
          <p:cNvSpPr/>
          <p:nvPr/>
        </p:nvSpPr>
        <p:spPr>
          <a:xfrm>
            <a:off x="8102600" y="45466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AD527F2-008F-314C-5A7E-DF780AB42988}"/>
              </a:ext>
            </a:extLst>
          </p:cNvPr>
          <p:cNvSpPr txBox="1"/>
          <p:nvPr/>
        </p:nvSpPr>
        <p:spPr>
          <a:xfrm>
            <a:off x="8128000" y="47244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900A2E3-8B16-7B9F-5A30-0F5FCD564743}"/>
              </a:ext>
            </a:extLst>
          </p:cNvPr>
          <p:cNvSpPr/>
          <p:nvPr/>
        </p:nvSpPr>
        <p:spPr>
          <a:xfrm>
            <a:off x="8712200" y="4546600"/>
            <a:ext cx="558800" cy="558800"/>
          </a:xfrm>
          <a:prstGeom prst="rect">
            <a:avLst/>
          </a:prstGeom>
          <a:solidFill>
            <a:srgbClr val="024282">
              <a:alpha val="31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CE246F1-BE1A-A398-2252-83075EE49C4C}"/>
              </a:ext>
            </a:extLst>
          </p:cNvPr>
          <p:cNvSpPr txBox="1"/>
          <p:nvPr/>
        </p:nvSpPr>
        <p:spPr>
          <a:xfrm>
            <a:off x="8737600" y="47244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0.67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C781DE6-4D92-FDB1-6048-4D88859D0789}"/>
              </a:ext>
            </a:extLst>
          </p:cNvPr>
          <p:cNvSpPr/>
          <p:nvPr/>
        </p:nvSpPr>
        <p:spPr>
          <a:xfrm>
            <a:off x="9321800" y="4546600"/>
            <a:ext cx="558800" cy="558800"/>
          </a:xfrm>
          <a:prstGeom prst="rect">
            <a:avLst/>
          </a:prstGeom>
          <a:solidFill>
            <a:srgbClr val="024282">
              <a:alpha val="247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902965-2CBB-9C0A-1D5B-27B7235F79D7}"/>
              </a:ext>
            </a:extLst>
          </p:cNvPr>
          <p:cNvSpPr txBox="1"/>
          <p:nvPr/>
        </p:nvSpPr>
        <p:spPr>
          <a:xfrm>
            <a:off x="9347200" y="47244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0.65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981B1B6-F916-742B-50DD-3C22DD4B6E0B}"/>
              </a:ext>
            </a:extLst>
          </p:cNvPr>
          <p:cNvSpPr/>
          <p:nvPr/>
        </p:nvSpPr>
        <p:spPr>
          <a:xfrm>
            <a:off x="9931400" y="4546600"/>
            <a:ext cx="558800" cy="558800"/>
          </a:xfrm>
          <a:prstGeom prst="rect">
            <a:avLst/>
          </a:prstGeom>
          <a:solidFill>
            <a:srgbClr val="024282">
              <a:alpha val="182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478497C-AC7E-83DB-24A4-375DC718E84C}"/>
              </a:ext>
            </a:extLst>
          </p:cNvPr>
          <p:cNvSpPr txBox="1"/>
          <p:nvPr/>
        </p:nvSpPr>
        <p:spPr>
          <a:xfrm>
            <a:off x="9956800" y="47244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0.62</a:t>
            </a:r>
            <a:endParaRPr lang="zh-CN" altLang="en-US" sz="95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671BF54-06E1-714B-CEE1-C7BCA3DFE8C3}"/>
              </a:ext>
            </a:extLst>
          </p:cNvPr>
          <p:cNvSpPr/>
          <p:nvPr/>
        </p:nvSpPr>
        <p:spPr>
          <a:xfrm>
            <a:off x="8102600" y="2717800"/>
            <a:ext cx="1778000" cy="1778000"/>
          </a:xfrm>
          <a:prstGeom prst="rect">
            <a:avLst/>
          </a:prstGeom>
          <a:solidFill>
            <a:srgbClr val="F7F8FA">
              <a:alpha val="0"/>
            </a:srgbClr>
          </a:solidFill>
          <a:ln w="25400">
            <a:solidFill>
              <a:srgbClr val="D8A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5D0007C-F2F5-E11B-E0C7-547D5A8DD7E4}"/>
              </a:ext>
            </a:extLst>
          </p:cNvPr>
          <p:cNvSpPr txBox="1"/>
          <p:nvPr/>
        </p:nvSpPr>
        <p:spPr>
          <a:xfrm>
            <a:off x="7620000" y="5334000"/>
            <a:ext cx="3657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推荐稳定区间</a:t>
            </a:r>
          </a:p>
        </p:txBody>
      </p:sp>
    </p:spTree>
    <p:extLst>
      <p:ext uri="{BB962C8B-B14F-4D97-AF65-F5344CB8AC3E}">
        <p14:creationId xmlns:p14="http://schemas.microsoft.com/office/powerpoint/2010/main" val="410480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283891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定性研究证据链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57884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QUALITATIVE EVIDENCE CHAIN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8EC9D0A-23F5-AB55-C7F2-D3A72F0731A8}"/>
              </a:ext>
            </a:extLst>
          </p:cNvPr>
          <p:cNvSpPr/>
          <p:nvPr/>
        </p:nvSpPr>
        <p:spPr>
          <a:xfrm>
            <a:off x="609600" y="1676400"/>
            <a:ext cx="2413000" cy="3149600"/>
          </a:xfrm>
          <a:prstGeom prst="rect">
            <a:avLst/>
          </a:prstGeom>
          <a:solidFill>
            <a:srgbClr val="F7F8FA"/>
          </a:solidFill>
          <a:ln w="15240">
            <a:solidFill>
              <a:srgbClr val="7A87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8C700DA-4DA5-C790-3CA6-AD5CB324A141}"/>
              </a:ext>
            </a:extLst>
          </p:cNvPr>
          <p:cNvSpPr txBox="1"/>
          <p:nvPr/>
        </p:nvSpPr>
        <p:spPr>
          <a:xfrm>
            <a:off x="762000" y="3020284"/>
            <a:ext cx="21082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原始材料 </a:t>
            </a:r>
            <a:r>
              <a:rPr lang="en-US" altLang="zh-CN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引文 </a:t>
            </a:r>
            <a:r>
              <a:rPr lang="en-US" altLang="zh-CN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FA93E2B-F59C-5983-D85E-64898D2C4917}"/>
              </a:ext>
            </a:extLst>
          </p:cNvPr>
          <p:cNvSpPr txBox="1"/>
          <p:nvPr/>
        </p:nvSpPr>
        <p:spPr>
          <a:xfrm>
            <a:off x="762000" y="3385108"/>
            <a:ext cx="2108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建议比例 </a:t>
            </a:r>
            <a:r>
              <a:rPr lang="en-US" altLang="zh-CN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4:3 </a:t>
            </a:r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或原比例 </a:t>
            </a:r>
            <a:r>
              <a:rPr lang="en-US" altLang="zh-CN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双击替换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A710ABF-CB14-2BE5-AFDF-CD81F225861A}"/>
              </a:ext>
            </a:extLst>
          </p:cNvPr>
          <p:cNvSpPr/>
          <p:nvPr/>
        </p:nvSpPr>
        <p:spPr>
          <a:xfrm>
            <a:off x="3403600" y="2006600"/>
            <a:ext cx="1752600" cy="215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8AFE01F-2770-B1C6-2C57-E6A592206BFF}"/>
              </a:ext>
            </a:extLst>
          </p:cNvPr>
          <p:cNvSpPr/>
          <p:nvPr/>
        </p:nvSpPr>
        <p:spPr>
          <a:xfrm>
            <a:off x="3581400" y="2209800"/>
            <a:ext cx="457200" cy="254000"/>
          </a:xfrm>
          <a:prstGeom prst="round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4B1E031-AE80-2AFE-C328-1C6BE0A0BE03}"/>
              </a:ext>
            </a:extLst>
          </p:cNvPr>
          <p:cNvSpPr txBox="1"/>
          <p:nvPr/>
        </p:nvSpPr>
        <p:spPr>
          <a:xfrm>
            <a:off x="3619500" y="2292908"/>
            <a:ext cx="381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71ECDA3-1B77-A9EA-75B2-75B6D7CFE9A7}"/>
              </a:ext>
            </a:extLst>
          </p:cNvPr>
          <p:cNvSpPr txBox="1"/>
          <p:nvPr/>
        </p:nvSpPr>
        <p:spPr>
          <a:xfrm>
            <a:off x="3581400" y="2768600"/>
            <a:ext cx="1397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开放编码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8A29CF7-39DB-C8FB-C1BD-9BFC15703FB4}"/>
              </a:ext>
            </a:extLst>
          </p:cNvPr>
          <p:cNvSpPr txBox="1"/>
          <p:nvPr/>
        </p:nvSpPr>
        <p:spPr>
          <a:xfrm>
            <a:off x="3581400" y="3276600"/>
            <a:ext cx="139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短语 </a:t>
            </a:r>
            <a:r>
              <a:rPr lang="en-US" altLang="zh-CN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C9BD593-E757-6C0A-3106-E67E567752DC}"/>
              </a:ext>
            </a:extLst>
          </p:cNvPr>
          <p:cNvCxnSpPr/>
          <p:nvPr/>
        </p:nvCxnSpPr>
        <p:spPr>
          <a:xfrm>
            <a:off x="5156200" y="3086100"/>
            <a:ext cx="304800" cy="0"/>
          </a:xfrm>
          <a:prstGeom prst="line">
            <a:avLst/>
          </a:prstGeom>
          <a:ln w="2540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6954F07-94A7-9F66-7053-DC8D49F78179}"/>
              </a:ext>
            </a:extLst>
          </p:cNvPr>
          <p:cNvSpPr/>
          <p:nvPr/>
        </p:nvSpPr>
        <p:spPr>
          <a:xfrm>
            <a:off x="5461000" y="2006600"/>
            <a:ext cx="1752600" cy="215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3006354-616B-1942-D098-403ED65D3779}"/>
              </a:ext>
            </a:extLst>
          </p:cNvPr>
          <p:cNvSpPr/>
          <p:nvPr/>
        </p:nvSpPr>
        <p:spPr>
          <a:xfrm>
            <a:off x="5638800" y="2209800"/>
            <a:ext cx="457200" cy="254000"/>
          </a:xfrm>
          <a:prstGeom prst="round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E66DCFD-A403-548C-848E-827FE6D48B5F}"/>
              </a:ext>
            </a:extLst>
          </p:cNvPr>
          <p:cNvSpPr txBox="1"/>
          <p:nvPr/>
        </p:nvSpPr>
        <p:spPr>
          <a:xfrm>
            <a:off x="5676900" y="2292908"/>
            <a:ext cx="381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A4B534F-BE05-F99C-6EB1-B95CC3A7EABB}"/>
              </a:ext>
            </a:extLst>
          </p:cNvPr>
          <p:cNvSpPr txBox="1"/>
          <p:nvPr/>
        </p:nvSpPr>
        <p:spPr>
          <a:xfrm>
            <a:off x="5638800" y="2768600"/>
            <a:ext cx="1397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聚合编码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B597F1E-23E4-45BC-03CE-46555E00F198}"/>
              </a:ext>
            </a:extLst>
          </p:cNvPr>
          <p:cNvSpPr txBox="1"/>
          <p:nvPr/>
        </p:nvSpPr>
        <p:spPr>
          <a:xfrm>
            <a:off x="5638800" y="3276600"/>
            <a:ext cx="139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相似概念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37AD94F-EB3A-D5DE-0BD1-04E16F53B475}"/>
              </a:ext>
            </a:extLst>
          </p:cNvPr>
          <p:cNvCxnSpPr/>
          <p:nvPr/>
        </p:nvCxnSpPr>
        <p:spPr>
          <a:xfrm>
            <a:off x="7213600" y="3086100"/>
            <a:ext cx="304800" cy="0"/>
          </a:xfrm>
          <a:prstGeom prst="line">
            <a:avLst/>
          </a:prstGeom>
          <a:ln w="2540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D16FCE2B-00AE-130F-228F-3E5DD146B63B}"/>
              </a:ext>
            </a:extLst>
          </p:cNvPr>
          <p:cNvSpPr/>
          <p:nvPr/>
        </p:nvSpPr>
        <p:spPr>
          <a:xfrm>
            <a:off x="7518400" y="2006600"/>
            <a:ext cx="1752600" cy="215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D36C87A-C56D-8C0B-6E61-30F7D2E46BFC}"/>
              </a:ext>
            </a:extLst>
          </p:cNvPr>
          <p:cNvSpPr/>
          <p:nvPr/>
        </p:nvSpPr>
        <p:spPr>
          <a:xfrm>
            <a:off x="7696200" y="2209800"/>
            <a:ext cx="457200" cy="254000"/>
          </a:xfrm>
          <a:prstGeom prst="round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72AB474-B608-7051-3DEF-82F67CD097D6}"/>
              </a:ext>
            </a:extLst>
          </p:cNvPr>
          <p:cNvSpPr txBox="1"/>
          <p:nvPr/>
        </p:nvSpPr>
        <p:spPr>
          <a:xfrm>
            <a:off x="7734300" y="2292908"/>
            <a:ext cx="381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CEE3A93-071D-BBFF-BD4B-CF4067CCF1C5}"/>
              </a:ext>
            </a:extLst>
          </p:cNvPr>
          <p:cNvSpPr txBox="1"/>
          <p:nvPr/>
        </p:nvSpPr>
        <p:spPr>
          <a:xfrm>
            <a:off x="7696200" y="2768600"/>
            <a:ext cx="1397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子主题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39557DE-8657-EB02-1509-D5268A289BC9}"/>
              </a:ext>
            </a:extLst>
          </p:cNvPr>
          <p:cNvSpPr txBox="1"/>
          <p:nvPr/>
        </p:nvSpPr>
        <p:spPr>
          <a:xfrm>
            <a:off x="7696200" y="3276600"/>
            <a:ext cx="139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局部模式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3C7C6A3-FBB5-C5FE-C422-B2FCBA7EB611}"/>
              </a:ext>
            </a:extLst>
          </p:cNvPr>
          <p:cNvCxnSpPr/>
          <p:nvPr/>
        </p:nvCxnSpPr>
        <p:spPr>
          <a:xfrm>
            <a:off x="9271000" y="3086100"/>
            <a:ext cx="304800" cy="0"/>
          </a:xfrm>
          <a:prstGeom prst="line">
            <a:avLst/>
          </a:prstGeom>
          <a:ln w="2540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DC99C059-7F0B-AF07-A3B1-ECAAFB2943EB}"/>
              </a:ext>
            </a:extLst>
          </p:cNvPr>
          <p:cNvSpPr/>
          <p:nvPr/>
        </p:nvSpPr>
        <p:spPr>
          <a:xfrm>
            <a:off x="9575800" y="2006600"/>
            <a:ext cx="1752600" cy="2159000"/>
          </a:xfrm>
          <a:prstGeom prst="rect">
            <a:avLst/>
          </a:prstGeom>
          <a:solidFill>
            <a:srgbClr val="123B5D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F8F4270-D002-60AD-3FDC-97AA5FF2C384}"/>
              </a:ext>
            </a:extLst>
          </p:cNvPr>
          <p:cNvSpPr/>
          <p:nvPr/>
        </p:nvSpPr>
        <p:spPr>
          <a:xfrm>
            <a:off x="9753600" y="2209800"/>
            <a:ext cx="457200" cy="254000"/>
          </a:xfrm>
          <a:prstGeom prst="roundRect">
            <a:avLst/>
          </a:prstGeom>
          <a:solidFill>
            <a:srgbClr val="D8A54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D459695-285C-2119-E0ED-3B57585D86A4}"/>
              </a:ext>
            </a:extLst>
          </p:cNvPr>
          <p:cNvSpPr txBox="1"/>
          <p:nvPr/>
        </p:nvSpPr>
        <p:spPr>
          <a:xfrm>
            <a:off x="9791700" y="2292908"/>
            <a:ext cx="381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85A058B-608F-493C-87E5-C80DC7C82BD3}"/>
              </a:ext>
            </a:extLst>
          </p:cNvPr>
          <p:cNvSpPr txBox="1"/>
          <p:nvPr/>
        </p:nvSpPr>
        <p:spPr>
          <a:xfrm>
            <a:off x="9753600" y="2768600"/>
            <a:ext cx="1397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核心主题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C3AF5DB-68D0-F8B7-C7EE-757D5B723649}"/>
              </a:ext>
            </a:extLst>
          </p:cNvPr>
          <p:cNvSpPr txBox="1"/>
          <p:nvPr/>
        </p:nvSpPr>
        <p:spPr>
          <a:xfrm>
            <a:off x="9753600" y="3276600"/>
            <a:ext cx="139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理论解释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808CE33-53C3-156E-6447-8CA16F477545}"/>
              </a:ext>
            </a:extLst>
          </p:cNvPr>
          <p:cNvSpPr/>
          <p:nvPr/>
        </p:nvSpPr>
        <p:spPr>
          <a:xfrm>
            <a:off x="609600" y="5105400"/>
            <a:ext cx="10972800" cy="6604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B3E1057-932E-8BB7-A879-6C244326A9BD}"/>
              </a:ext>
            </a:extLst>
          </p:cNvPr>
          <p:cNvSpPr txBox="1"/>
          <p:nvPr/>
        </p:nvSpPr>
        <p:spPr>
          <a:xfrm>
            <a:off x="787400" y="5321300"/>
            <a:ext cx="10617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匿名化标签：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P01 / Case A 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编码者一致性：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饱和度：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反例：已检查 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待检查</a:t>
            </a:r>
          </a:p>
        </p:txBody>
      </p:sp>
    </p:spTree>
    <p:extLst>
      <p:ext uri="{BB962C8B-B14F-4D97-AF65-F5344CB8AC3E}">
        <p14:creationId xmlns:p14="http://schemas.microsoft.com/office/powerpoint/2010/main" val="288193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365003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失败案例与错误分类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148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FAILURE CASES &amp; ERROR TAXONOMY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C78DB740-855C-9A5F-B44D-BD329D527227}"/>
              </a:ext>
            </a:extLst>
          </p:cNvPr>
          <p:cNvSpPr/>
          <p:nvPr/>
        </p:nvSpPr>
        <p:spPr>
          <a:xfrm>
            <a:off x="609600" y="1676400"/>
            <a:ext cx="3022600" cy="2743200"/>
          </a:xfrm>
          <a:prstGeom prst="rect">
            <a:avLst/>
          </a:prstGeom>
          <a:solidFill>
            <a:srgbClr val="F7F8FA"/>
          </a:solidFill>
          <a:ln w="15240">
            <a:solidFill>
              <a:srgbClr val="7A87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C06E2E-9270-6082-52B0-800DA3D57FE8}"/>
              </a:ext>
            </a:extLst>
          </p:cNvPr>
          <p:cNvSpPr txBox="1"/>
          <p:nvPr/>
        </p:nvSpPr>
        <p:spPr>
          <a:xfrm>
            <a:off x="762000" y="2817083"/>
            <a:ext cx="2717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失败案例 </a:t>
            </a:r>
            <a:r>
              <a:rPr lang="en-US" altLang="zh-CN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证据截图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C7BE8D3-8350-900B-912E-E72E44065CA8}"/>
              </a:ext>
            </a:extLst>
          </p:cNvPr>
          <p:cNvSpPr txBox="1"/>
          <p:nvPr/>
        </p:nvSpPr>
        <p:spPr>
          <a:xfrm>
            <a:off x="762000" y="3181908"/>
            <a:ext cx="271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建议比例 </a:t>
            </a:r>
            <a:r>
              <a:rPr lang="en-US" altLang="zh-CN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4:3 </a:t>
            </a:r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或原比例 </a:t>
            </a:r>
            <a:r>
              <a:rPr lang="en-US" altLang="zh-CN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双击替换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16BCA15-6D1E-063B-EBEF-587E1434ABB4}"/>
              </a:ext>
            </a:extLst>
          </p:cNvPr>
          <p:cNvSpPr txBox="1"/>
          <p:nvPr/>
        </p:nvSpPr>
        <p:spPr>
          <a:xfrm>
            <a:off x="609600" y="4597400"/>
            <a:ext cx="30226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1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案例说明：输入、预期、实际、影响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AE9D084-D85C-D88E-20EB-649B6FE70460}"/>
              </a:ext>
            </a:extLst>
          </p:cNvPr>
          <p:cNvSpPr txBox="1"/>
          <p:nvPr/>
        </p:nvSpPr>
        <p:spPr>
          <a:xfrm>
            <a:off x="4038600" y="1422400"/>
            <a:ext cx="47752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错误类型的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80/20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贡献（示例）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D516BB9-CC69-36BB-B2F6-99C047AD6831}"/>
              </a:ext>
            </a:extLst>
          </p:cNvPr>
          <p:cNvCxnSpPr/>
          <p:nvPr/>
        </p:nvCxnSpPr>
        <p:spPr>
          <a:xfrm>
            <a:off x="4038600" y="1739900"/>
            <a:ext cx="47752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6716E471-326B-EB3A-6AD8-7245F34E0CE9}"/>
              </a:ext>
            </a:extLst>
          </p:cNvPr>
          <p:cNvSpPr/>
          <p:nvPr/>
        </p:nvSpPr>
        <p:spPr>
          <a:xfrm>
            <a:off x="4318000" y="2595880"/>
            <a:ext cx="457200" cy="2204720"/>
          </a:xfrm>
          <a:prstGeom prst="rect">
            <a:avLst/>
          </a:prstGeom>
          <a:solidFill>
            <a:srgbClr val="D8A54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7A30D2-B1C7-B14F-2F9C-FD906B5862EA}"/>
              </a:ext>
            </a:extLst>
          </p:cNvPr>
          <p:cNvSpPr txBox="1"/>
          <p:nvPr/>
        </p:nvSpPr>
        <p:spPr>
          <a:xfrm>
            <a:off x="4292600" y="4876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E1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B3BCCF9-F29D-CFA9-6E54-DBDFD2EDA60F}"/>
              </a:ext>
            </a:extLst>
          </p:cNvPr>
          <p:cNvSpPr/>
          <p:nvPr/>
        </p:nvSpPr>
        <p:spPr>
          <a:xfrm>
            <a:off x="5130800" y="3186430"/>
            <a:ext cx="457200" cy="1614170"/>
          </a:xfrm>
          <a:prstGeom prst="rect">
            <a:avLst/>
          </a:prstGeom>
          <a:solidFill>
            <a:srgbClr val="D8A54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A4A0B02-FB24-A07C-CDF5-C6CE61EF7D1B}"/>
              </a:ext>
            </a:extLst>
          </p:cNvPr>
          <p:cNvSpPr txBox="1"/>
          <p:nvPr/>
        </p:nvSpPr>
        <p:spPr>
          <a:xfrm>
            <a:off x="5105400" y="4876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E2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306850-07EA-1776-7E1D-8360198674BC}"/>
              </a:ext>
            </a:extLst>
          </p:cNvPr>
          <p:cNvSpPr/>
          <p:nvPr/>
        </p:nvSpPr>
        <p:spPr>
          <a:xfrm>
            <a:off x="5943600" y="3658870"/>
            <a:ext cx="457200" cy="114173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CB8BE02-3449-C86B-0A96-B78441100C8D}"/>
              </a:ext>
            </a:extLst>
          </p:cNvPr>
          <p:cNvSpPr txBox="1"/>
          <p:nvPr/>
        </p:nvSpPr>
        <p:spPr>
          <a:xfrm>
            <a:off x="5918200" y="4876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E3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5EFF78D-B963-F5E4-4995-108BAB66A581}"/>
              </a:ext>
            </a:extLst>
          </p:cNvPr>
          <p:cNvSpPr/>
          <p:nvPr/>
        </p:nvSpPr>
        <p:spPr>
          <a:xfrm>
            <a:off x="6756400" y="4091940"/>
            <a:ext cx="457200" cy="70866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7439FC9-C022-766B-CC1C-37264E595174}"/>
              </a:ext>
            </a:extLst>
          </p:cNvPr>
          <p:cNvSpPr txBox="1"/>
          <p:nvPr/>
        </p:nvSpPr>
        <p:spPr>
          <a:xfrm>
            <a:off x="6731000" y="4876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E4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E840C35-237A-A01E-02AC-14D8F20C0624}"/>
              </a:ext>
            </a:extLst>
          </p:cNvPr>
          <p:cNvSpPr/>
          <p:nvPr/>
        </p:nvSpPr>
        <p:spPr>
          <a:xfrm>
            <a:off x="7569200" y="4367530"/>
            <a:ext cx="457200" cy="43307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EBADB6B-4BF4-2995-ECCC-0CA98E0B8D54}"/>
              </a:ext>
            </a:extLst>
          </p:cNvPr>
          <p:cNvSpPr txBox="1"/>
          <p:nvPr/>
        </p:nvSpPr>
        <p:spPr>
          <a:xfrm>
            <a:off x="7543800" y="4876800"/>
            <a:ext cx="50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E5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B39DD70-9481-1772-5EA3-949121C4D086}"/>
              </a:ext>
            </a:extLst>
          </p:cNvPr>
          <p:cNvCxnSpPr/>
          <p:nvPr/>
        </p:nvCxnSpPr>
        <p:spPr>
          <a:xfrm flipV="1">
            <a:off x="4546600" y="3149600"/>
            <a:ext cx="812800" cy="66040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8F868204-C584-D8B8-281A-5BFEFFF636B6}"/>
              </a:ext>
            </a:extLst>
          </p:cNvPr>
          <p:cNvCxnSpPr/>
          <p:nvPr/>
        </p:nvCxnSpPr>
        <p:spPr>
          <a:xfrm flipV="1">
            <a:off x="5359400" y="2768600"/>
            <a:ext cx="812800" cy="38100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AEC6386-54BD-6980-6AB4-8CBEC16F9870}"/>
              </a:ext>
            </a:extLst>
          </p:cNvPr>
          <p:cNvCxnSpPr/>
          <p:nvPr/>
        </p:nvCxnSpPr>
        <p:spPr>
          <a:xfrm flipV="1">
            <a:off x="6172200" y="2565400"/>
            <a:ext cx="812800" cy="20320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46BB713-8315-BC83-9DB3-C2B22232BFA0}"/>
              </a:ext>
            </a:extLst>
          </p:cNvPr>
          <p:cNvCxnSpPr/>
          <p:nvPr/>
        </p:nvCxnSpPr>
        <p:spPr>
          <a:xfrm flipV="1">
            <a:off x="6985000" y="2463800"/>
            <a:ext cx="812800" cy="10160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椭圆 55">
            <a:extLst>
              <a:ext uri="{FF2B5EF4-FFF2-40B4-BE49-F238E27FC236}">
                <a16:creationId xmlns:a16="http://schemas.microsoft.com/office/drawing/2014/main" id="{D10797F1-D60E-7F3F-F394-7F7BD5B1FD52}"/>
              </a:ext>
            </a:extLst>
          </p:cNvPr>
          <p:cNvSpPr/>
          <p:nvPr/>
        </p:nvSpPr>
        <p:spPr>
          <a:xfrm>
            <a:off x="4495800" y="37592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55246B1F-2ECC-46D4-32FE-6570DB0AAA27}"/>
              </a:ext>
            </a:extLst>
          </p:cNvPr>
          <p:cNvSpPr/>
          <p:nvPr/>
        </p:nvSpPr>
        <p:spPr>
          <a:xfrm>
            <a:off x="5308600" y="30988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CAC0932-C11F-547F-BE0F-E576579DB1EA}"/>
              </a:ext>
            </a:extLst>
          </p:cNvPr>
          <p:cNvSpPr/>
          <p:nvPr/>
        </p:nvSpPr>
        <p:spPr>
          <a:xfrm>
            <a:off x="6121400" y="27178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769BA4C-83B4-4E13-F2B5-4B6958B35148}"/>
              </a:ext>
            </a:extLst>
          </p:cNvPr>
          <p:cNvSpPr/>
          <p:nvPr/>
        </p:nvSpPr>
        <p:spPr>
          <a:xfrm>
            <a:off x="6934200" y="25146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414E7FF4-596A-BB2C-C49E-374E9DED0F9B}"/>
              </a:ext>
            </a:extLst>
          </p:cNvPr>
          <p:cNvSpPr/>
          <p:nvPr/>
        </p:nvSpPr>
        <p:spPr>
          <a:xfrm>
            <a:off x="7747000" y="2413000"/>
            <a:ext cx="101600" cy="101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2A5235C-512D-794F-2D47-D8F0ACF90A66}"/>
              </a:ext>
            </a:extLst>
          </p:cNvPr>
          <p:cNvSpPr/>
          <p:nvPr/>
        </p:nvSpPr>
        <p:spPr>
          <a:xfrm>
            <a:off x="9144000" y="1676400"/>
            <a:ext cx="2438400" cy="3378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09D155F-D514-213B-503D-1EC1B2183F54}"/>
              </a:ext>
            </a:extLst>
          </p:cNvPr>
          <p:cNvSpPr txBox="1"/>
          <p:nvPr/>
        </p:nvSpPr>
        <p:spPr>
          <a:xfrm>
            <a:off x="9372600" y="1930400"/>
            <a:ext cx="1981200" cy="131831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根因登记</a:t>
            </a:r>
          </a:p>
          <a:p>
            <a:endParaRPr lang="zh-CN" altLang="en-US" sz="1200">
              <a:solidFill>
                <a:srgbClr val="1721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严重度：高 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 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</a:t>
            </a:r>
          </a:p>
          <a:p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发生频率：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</a:p>
          <a:p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根因：数据 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 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</a:t>
            </a:r>
          </a:p>
          <a:p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恢复动作：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</a:p>
          <a:p>
            <a:r>
              <a:rPr lang="zh-CN" altLang="en-US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适用边界：</a:t>
            </a:r>
            <a:r>
              <a:rPr lang="en-US" altLang="zh-CN" sz="1200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endParaRPr lang="zh-CN" altLang="en-US" sz="1200">
              <a:solidFill>
                <a:srgbClr val="1721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00E1EA4-A136-893D-86F5-CB79F84C9DEB}"/>
              </a:ext>
            </a:extLst>
          </p:cNvPr>
          <p:cNvSpPr/>
          <p:nvPr/>
        </p:nvSpPr>
        <p:spPr>
          <a:xfrm>
            <a:off x="609600" y="5334000"/>
            <a:ext cx="10972800" cy="508000"/>
          </a:xfrm>
          <a:prstGeom prst="rect">
            <a:avLst/>
          </a:prstGeom>
          <a:solidFill>
            <a:srgbClr val="A64A45">
              <a:alpha val="12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FDC9ED4-455B-EC39-263C-0CE6BB97C4EE}"/>
              </a:ext>
            </a:extLst>
          </p:cNvPr>
          <p:cNvSpPr txBox="1"/>
          <p:nvPr/>
        </p:nvSpPr>
        <p:spPr>
          <a:xfrm>
            <a:off x="787400" y="5473700"/>
            <a:ext cx="10617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10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优先治理：高频 </a:t>
            </a:r>
            <a:r>
              <a:rPr lang="en-US" altLang="zh-CN" sz="110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10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高严重度 </a:t>
            </a:r>
            <a:r>
              <a:rPr lang="en-US" altLang="zh-CN" sz="110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10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可恢复性低的错误类型</a:t>
            </a:r>
          </a:p>
        </p:txBody>
      </p:sp>
    </p:spTree>
    <p:extLst>
      <p:ext uri="{BB962C8B-B14F-4D97-AF65-F5344CB8AC3E}">
        <p14:creationId xmlns:p14="http://schemas.microsoft.com/office/powerpoint/2010/main" val="411430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统计显著性与不确定性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4917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EFFECT SIZE &amp; UNCERTAINTY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29515224-319D-78A0-050E-1B825C7D2158}"/>
              </a:ext>
            </a:extLst>
          </p:cNvPr>
          <p:cNvSpPr txBox="1"/>
          <p:nvPr/>
        </p:nvSpPr>
        <p:spPr>
          <a:xfrm>
            <a:off x="609600" y="1422400"/>
            <a:ext cx="10972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效应量与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（示例）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7C637E7-F703-D2D7-0E4E-5ACC657D2D9D}"/>
              </a:ext>
            </a:extLst>
          </p:cNvPr>
          <p:cNvCxnSpPr/>
          <p:nvPr/>
        </p:nvCxnSpPr>
        <p:spPr>
          <a:xfrm>
            <a:off x="609600" y="1739900"/>
            <a:ext cx="109728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1A0E9A8-0C76-2B99-C733-2E5CB2716DC0}"/>
              </a:ext>
            </a:extLst>
          </p:cNvPr>
          <p:cNvCxnSpPr/>
          <p:nvPr/>
        </p:nvCxnSpPr>
        <p:spPr>
          <a:xfrm>
            <a:off x="6578600" y="2082800"/>
            <a:ext cx="0" cy="3200400"/>
          </a:xfrm>
          <a:prstGeom prst="line">
            <a:avLst/>
          </a:prstGeom>
          <a:ln w="15240">
            <a:solidFill>
              <a:srgbClr val="A64A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CF680AD2-3BB8-B176-DF49-D92E0E90F18E}"/>
              </a:ext>
            </a:extLst>
          </p:cNvPr>
          <p:cNvSpPr txBox="1"/>
          <p:nvPr/>
        </p:nvSpPr>
        <p:spPr>
          <a:xfrm>
            <a:off x="6070600" y="5334000"/>
            <a:ext cx="1016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95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（无效应）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48F08C-7442-CA17-D571-B35D6BCA7F03}"/>
              </a:ext>
            </a:extLst>
          </p:cNvPr>
          <p:cNvSpPr txBox="1"/>
          <p:nvPr/>
        </p:nvSpPr>
        <p:spPr>
          <a:xfrm>
            <a:off x="609600" y="2286000"/>
            <a:ext cx="279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Study / Group A</a:t>
            </a:r>
            <a:endParaRPr lang="zh-CN" altLang="en-US" sz="110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4D2F8E0-6930-B841-332E-D649BF789503}"/>
              </a:ext>
            </a:extLst>
          </p:cNvPr>
          <p:cNvCxnSpPr/>
          <p:nvPr/>
        </p:nvCxnSpPr>
        <p:spPr>
          <a:xfrm>
            <a:off x="5191760" y="2413000"/>
            <a:ext cx="1584960" cy="0"/>
          </a:xfrm>
          <a:prstGeom prst="line">
            <a:avLst/>
          </a:prstGeom>
          <a:ln w="1905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A10E9E7F-7CC3-4B07-6887-921BC6E507BA}"/>
              </a:ext>
            </a:extLst>
          </p:cNvPr>
          <p:cNvSpPr/>
          <p:nvPr/>
        </p:nvSpPr>
        <p:spPr>
          <a:xfrm>
            <a:off x="5908040" y="2336800"/>
            <a:ext cx="152400" cy="152400"/>
          </a:xfrm>
          <a:prstGeom prst="ellipse">
            <a:avLst/>
          </a:prstGeom>
          <a:solidFill>
            <a:srgbClr val="024282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1FD719E-F3DF-3110-19CA-7BA8B519C2CC}"/>
              </a:ext>
            </a:extLst>
          </p:cNvPr>
          <p:cNvSpPr txBox="1"/>
          <p:nvPr/>
        </p:nvSpPr>
        <p:spPr>
          <a:xfrm>
            <a:off x="9017000" y="2286000"/>
            <a:ext cx="190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-0.18 [-0.42, 0.06]</a:t>
            </a:r>
            <a:endParaRPr lang="zh-CN" altLang="en-US" sz="1000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ADC22E6-D08F-B7BE-1DC1-C70B88BFEAD1}"/>
              </a:ext>
            </a:extLst>
          </p:cNvPr>
          <p:cNvSpPr txBox="1"/>
          <p:nvPr/>
        </p:nvSpPr>
        <p:spPr>
          <a:xfrm>
            <a:off x="10947400" y="2286000"/>
            <a:ext cx="63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p=0.01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6D4A5FF-65DD-FD66-403B-C669C9E66998}"/>
              </a:ext>
            </a:extLst>
          </p:cNvPr>
          <p:cNvSpPr txBox="1"/>
          <p:nvPr/>
        </p:nvSpPr>
        <p:spPr>
          <a:xfrm>
            <a:off x="609600" y="2895600"/>
            <a:ext cx="279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Study / Group B</a:t>
            </a:r>
            <a:endParaRPr lang="zh-CN" altLang="en-US" sz="110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25A0889-3DC9-B5BB-F59A-C8CC88F4714E}"/>
              </a:ext>
            </a:extLst>
          </p:cNvPr>
          <p:cNvCxnSpPr/>
          <p:nvPr/>
        </p:nvCxnSpPr>
        <p:spPr>
          <a:xfrm>
            <a:off x="6380480" y="3022600"/>
            <a:ext cx="1849120" cy="0"/>
          </a:xfrm>
          <a:prstGeom prst="line">
            <a:avLst/>
          </a:prstGeom>
          <a:ln w="1905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DF8F5127-7B2E-9C43-83BC-4E18FD43C1F9}"/>
              </a:ext>
            </a:extLst>
          </p:cNvPr>
          <p:cNvSpPr/>
          <p:nvPr/>
        </p:nvSpPr>
        <p:spPr>
          <a:xfrm>
            <a:off x="7228840" y="2946400"/>
            <a:ext cx="152400" cy="152400"/>
          </a:xfrm>
          <a:prstGeom prst="ellipse">
            <a:avLst/>
          </a:prstGeom>
          <a:solidFill>
            <a:srgbClr val="024282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4B80E91-CEFC-2547-1867-8551AAA0E859}"/>
              </a:ext>
            </a:extLst>
          </p:cNvPr>
          <p:cNvSpPr txBox="1"/>
          <p:nvPr/>
        </p:nvSpPr>
        <p:spPr>
          <a:xfrm>
            <a:off x="9017000" y="2895600"/>
            <a:ext cx="190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0.22 [-0.06, 0.50]</a:t>
            </a:r>
            <a:endParaRPr lang="zh-CN" altLang="en-US" sz="1000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C134D77-B404-DF59-47BA-70D67746382C}"/>
              </a:ext>
            </a:extLst>
          </p:cNvPr>
          <p:cNvSpPr txBox="1"/>
          <p:nvPr/>
        </p:nvSpPr>
        <p:spPr>
          <a:xfrm>
            <a:off x="10947400" y="2895600"/>
            <a:ext cx="63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p=0.02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0A8AB8F-8BA3-17D7-B733-06DF66925DA1}"/>
              </a:ext>
            </a:extLst>
          </p:cNvPr>
          <p:cNvSpPr txBox="1"/>
          <p:nvPr/>
        </p:nvSpPr>
        <p:spPr>
          <a:xfrm>
            <a:off x="609600" y="3505200"/>
            <a:ext cx="279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Study / Group C</a:t>
            </a:r>
            <a:endParaRPr lang="zh-CN" altLang="en-US" sz="110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8EFE154-F18A-4BB2-A0C9-099A0BA8F291}"/>
              </a:ext>
            </a:extLst>
          </p:cNvPr>
          <p:cNvCxnSpPr/>
          <p:nvPr/>
        </p:nvCxnSpPr>
        <p:spPr>
          <a:xfrm>
            <a:off x="7172960" y="3632200"/>
            <a:ext cx="1849120" cy="0"/>
          </a:xfrm>
          <a:prstGeom prst="line">
            <a:avLst/>
          </a:prstGeom>
          <a:ln w="1905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2776119F-D3FF-2A1F-4AA0-421CEB817678}"/>
              </a:ext>
            </a:extLst>
          </p:cNvPr>
          <p:cNvSpPr/>
          <p:nvPr/>
        </p:nvSpPr>
        <p:spPr>
          <a:xfrm>
            <a:off x="8021320" y="3556000"/>
            <a:ext cx="152400" cy="152400"/>
          </a:xfrm>
          <a:prstGeom prst="ellipse">
            <a:avLst/>
          </a:prstGeom>
          <a:solidFill>
            <a:srgbClr val="024282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A6752FC-B3AC-04B4-EE40-476AA34B9D29}"/>
              </a:ext>
            </a:extLst>
          </p:cNvPr>
          <p:cNvSpPr txBox="1"/>
          <p:nvPr/>
        </p:nvSpPr>
        <p:spPr>
          <a:xfrm>
            <a:off x="9017000" y="3505200"/>
            <a:ext cx="190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0.46 [0.18, 0.74]</a:t>
            </a:r>
            <a:endParaRPr lang="zh-CN" altLang="en-US" sz="1000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93FA648-9F9E-B416-5100-D9B3CB37C735}"/>
              </a:ext>
            </a:extLst>
          </p:cNvPr>
          <p:cNvSpPr txBox="1"/>
          <p:nvPr/>
        </p:nvSpPr>
        <p:spPr>
          <a:xfrm>
            <a:off x="10947400" y="3505200"/>
            <a:ext cx="63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p=0.03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7D1092A-2B53-8603-F2A0-30AFE525E3C3}"/>
              </a:ext>
            </a:extLst>
          </p:cNvPr>
          <p:cNvSpPr txBox="1"/>
          <p:nvPr/>
        </p:nvSpPr>
        <p:spPr>
          <a:xfrm>
            <a:off x="609600" y="4114800"/>
            <a:ext cx="279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Study / Group D</a:t>
            </a:r>
            <a:endParaRPr lang="zh-CN" altLang="en-US" sz="1100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EC85050-B12F-54C1-7BFE-70FFBEED5F09}"/>
              </a:ext>
            </a:extLst>
          </p:cNvPr>
          <p:cNvCxnSpPr/>
          <p:nvPr/>
        </p:nvCxnSpPr>
        <p:spPr>
          <a:xfrm>
            <a:off x="6116320" y="4241800"/>
            <a:ext cx="1584960" cy="0"/>
          </a:xfrm>
          <a:prstGeom prst="line">
            <a:avLst/>
          </a:prstGeom>
          <a:ln w="1905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6FABE9EE-E2E8-0387-0030-4ABC81CB52AA}"/>
              </a:ext>
            </a:extLst>
          </p:cNvPr>
          <p:cNvSpPr/>
          <p:nvPr/>
        </p:nvSpPr>
        <p:spPr>
          <a:xfrm>
            <a:off x="6832600" y="4165600"/>
            <a:ext cx="152400" cy="152400"/>
          </a:xfrm>
          <a:prstGeom prst="ellipse">
            <a:avLst/>
          </a:prstGeom>
          <a:solidFill>
            <a:srgbClr val="024282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1DD1CD2-E60E-402B-9B25-8A62268B6682}"/>
              </a:ext>
            </a:extLst>
          </p:cNvPr>
          <p:cNvSpPr txBox="1"/>
          <p:nvPr/>
        </p:nvSpPr>
        <p:spPr>
          <a:xfrm>
            <a:off x="9017000" y="4114800"/>
            <a:ext cx="190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0.10 [-0.14, 0.34]</a:t>
            </a:r>
            <a:endParaRPr lang="zh-CN" altLang="en-US" sz="1000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4700F44-A0EB-A31F-D596-EA6C807EA2B5}"/>
              </a:ext>
            </a:extLst>
          </p:cNvPr>
          <p:cNvSpPr txBox="1"/>
          <p:nvPr/>
        </p:nvSpPr>
        <p:spPr>
          <a:xfrm>
            <a:off x="10947400" y="4114800"/>
            <a:ext cx="63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p=0.04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1FCD871-8CE3-1B34-7F8F-9B51B914C1A5}"/>
              </a:ext>
            </a:extLst>
          </p:cNvPr>
          <p:cNvSpPr txBox="1"/>
          <p:nvPr/>
        </p:nvSpPr>
        <p:spPr>
          <a:xfrm>
            <a:off x="609600" y="4724400"/>
            <a:ext cx="279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Pooled effect</a:t>
            </a:r>
            <a:endParaRPr lang="zh-CN" altLang="en-US" sz="11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3625EFB-7752-822E-686D-463B0636598B}"/>
              </a:ext>
            </a:extLst>
          </p:cNvPr>
          <p:cNvCxnSpPr/>
          <p:nvPr/>
        </p:nvCxnSpPr>
        <p:spPr>
          <a:xfrm>
            <a:off x="6908800" y="4851400"/>
            <a:ext cx="924560" cy="0"/>
          </a:xfrm>
          <a:prstGeom prst="line">
            <a:avLst/>
          </a:prstGeom>
          <a:ln w="381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E336A732-157F-9B24-EA5A-1B99D6FB9F8E}"/>
              </a:ext>
            </a:extLst>
          </p:cNvPr>
          <p:cNvSpPr/>
          <p:nvPr/>
        </p:nvSpPr>
        <p:spPr>
          <a:xfrm>
            <a:off x="7294880" y="4775200"/>
            <a:ext cx="152400" cy="152400"/>
          </a:xfrm>
          <a:prstGeom prst="ellipse">
            <a:avLst/>
          </a:prstGeom>
          <a:solidFill>
            <a:srgbClr val="D8A546"/>
          </a:solidFill>
          <a:ln w="1016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2AA6EBC-7D73-017F-1B4B-2C859B2B2352}"/>
              </a:ext>
            </a:extLst>
          </p:cNvPr>
          <p:cNvSpPr txBox="1"/>
          <p:nvPr/>
        </p:nvSpPr>
        <p:spPr>
          <a:xfrm>
            <a:off x="9017000" y="4724400"/>
            <a:ext cx="190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 b="1">
                <a:solidFill>
                  <a:srgbClr val="17212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0.24 [0.10, 0.38]</a:t>
            </a:r>
            <a:endParaRPr lang="zh-CN" altLang="en-US" sz="1000" b="1">
              <a:solidFill>
                <a:srgbClr val="17212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3944AE1-13BA-DB76-A4DA-22EBF273B3E2}"/>
              </a:ext>
            </a:extLst>
          </p:cNvPr>
          <p:cNvSpPr txBox="1"/>
          <p:nvPr/>
        </p:nvSpPr>
        <p:spPr>
          <a:xfrm>
            <a:off x="10947400" y="4724400"/>
            <a:ext cx="635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p=0.05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CCF1F06-0E6A-04C8-0272-D5EB428871F6}"/>
              </a:ext>
            </a:extLst>
          </p:cNvPr>
          <p:cNvSpPr txBox="1"/>
          <p:nvPr/>
        </p:nvSpPr>
        <p:spPr>
          <a:xfrm>
            <a:off x="609600" y="5740400"/>
            <a:ext cx="10972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点：效应量    线：</a:t>
            </a:r>
            <a:r>
              <a:rPr lang="en-US" altLang="zh-CN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   </a:t>
            </a:r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虚线：零效应    修正方法：</a:t>
            </a:r>
            <a:r>
              <a:rPr lang="en-US" altLang="zh-CN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BH / Bonferroni / </a:t>
            </a:r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不适用</a:t>
            </a:r>
          </a:p>
        </p:txBody>
      </p:sp>
    </p:spTree>
    <p:extLst>
      <p:ext uri="{BB962C8B-B14F-4D97-AF65-F5344CB8AC3E}">
        <p14:creationId xmlns:p14="http://schemas.microsoft.com/office/powerpoint/2010/main" val="23833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效果、时延与资源效率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53648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EFFECTIVENESS, LATENCY &amp; RESOURCES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CC0395A1-B51E-56A3-C3AE-C8045ACC5BDB}"/>
              </a:ext>
            </a:extLst>
          </p:cNvPr>
          <p:cNvSpPr txBox="1"/>
          <p:nvPr/>
        </p:nvSpPr>
        <p:spPr>
          <a:xfrm>
            <a:off x="609600" y="1422400"/>
            <a:ext cx="7874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准确率 ↑ 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时延 ↓ 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模型规模（气泡面积）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8A41F85-3948-5023-E84B-7B4EEEDB1FED}"/>
              </a:ext>
            </a:extLst>
          </p:cNvPr>
          <p:cNvCxnSpPr/>
          <p:nvPr/>
        </p:nvCxnSpPr>
        <p:spPr>
          <a:xfrm>
            <a:off x="609600" y="1739900"/>
            <a:ext cx="78740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92BE589-351A-6D26-4BB7-CF7DF1ED851A}"/>
              </a:ext>
            </a:extLst>
          </p:cNvPr>
          <p:cNvCxnSpPr/>
          <p:nvPr/>
        </p:nvCxnSpPr>
        <p:spPr>
          <a:xfrm>
            <a:off x="1041400" y="2209800"/>
            <a:ext cx="0" cy="294640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97420A6-60F0-5109-C813-741A3763015D}"/>
              </a:ext>
            </a:extLst>
          </p:cNvPr>
          <p:cNvCxnSpPr/>
          <p:nvPr/>
        </p:nvCxnSpPr>
        <p:spPr>
          <a:xfrm>
            <a:off x="1041400" y="5156200"/>
            <a:ext cx="6934200" cy="0"/>
          </a:xfrm>
          <a:prstGeom prst="line">
            <a:avLst/>
          </a:prstGeom>
          <a:ln w="12700">
            <a:solidFill>
              <a:srgbClr val="5361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DB19449-D013-2EA1-EDEA-C2DBB864FF7F}"/>
              </a:ext>
            </a:extLst>
          </p:cNvPr>
          <p:cNvCxnSpPr/>
          <p:nvPr/>
        </p:nvCxnSpPr>
        <p:spPr>
          <a:xfrm>
            <a:off x="1041400" y="4419600"/>
            <a:ext cx="69342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BDF0A5C-EEEA-F8B9-9123-126E65BB4D34}"/>
              </a:ext>
            </a:extLst>
          </p:cNvPr>
          <p:cNvCxnSpPr/>
          <p:nvPr/>
        </p:nvCxnSpPr>
        <p:spPr>
          <a:xfrm>
            <a:off x="1041400" y="3683000"/>
            <a:ext cx="69342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F4823BA-E344-915B-2495-4E59FA2FDA8E}"/>
              </a:ext>
            </a:extLst>
          </p:cNvPr>
          <p:cNvCxnSpPr/>
          <p:nvPr/>
        </p:nvCxnSpPr>
        <p:spPr>
          <a:xfrm>
            <a:off x="1041400" y="2946400"/>
            <a:ext cx="69342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66F9765-4398-FEF3-203E-CC6E8092C22F}"/>
              </a:ext>
            </a:extLst>
          </p:cNvPr>
          <p:cNvCxnSpPr/>
          <p:nvPr/>
        </p:nvCxnSpPr>
        <p:spPr>
          <a:xfrm>
            <a:off x="1041400" y="2209800"/>
            <a:ext cx="6934200" cy="0"/>
          </a:xfrm>
          <a:prstGeom prst="line">
            <a:avLst/>
          </a:prstGeom>
          <a:ln w="7620">
            <a:solidFill>
              <a:srgbClr val="DF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8463B3D8-BB31-2BBE-27AF-97107BF3F94A}"/>
              </a:ext>
            </a:extLst>
          </p:cNvPr>
          <p:cNvSpPr txBox="1"/>
          <p:nvPr/>
        </p:nvSpPr>
        <p:spPr>
          <a:xfrm>
            <a:off x="6705600" y="5245100"/>
            <a:ext cx="1270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Latency / Cost →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ACFC9CE-7D89-8432-C6F2-D127C8B483FC}"/>
              </a:ext>
            </a:extLst>
          </p:cNvPr>
          <p:cNvSpPr txBox="1"/>
          <p:nvPr/>
        </p:nvSpPr>
        <p:spPr>
          <a:xfrm>
            <a:off x="990600" y="1981200"/>
            <a:ext cx="152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0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Effectiveness ↑</a:t>
            </a:r>
            <a:endParaRPr lang="zh-CN" altLang="en-US" sz="100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3724305-BD9C-895D-D54C-123A83477443}"/>
              </a:ext>
            </a:extLst>
          </p:cNvPr>
          <p:cNvSpPr/>
          <p:nvPr/>
        </p:nvSpPr>
        <p:spPr>
          <a:xfrm>
            <a:off x="2044700" y="4203700"/>
            <a:ext cx="228600" cy="228600"/>
          </a:xfrm>
          <a:prstGeom prst="ellipse">
            <a:avLst/>
          </a:prstGeom>
          <a:solidFill>
            <a:srgbClr val="7A8792">
              <a:alpha val="82000"/>
            </a:srgbClr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5D06CC6-663F-DD97-1CAF-6249C987062B}"/>
              </a:ext>
            </a:extLst>
          </p:cNvPr>
          <p:cNvSpPr txBox="1"/>
          <p:nvPr/>
        </p:nvSpPr>
        <p:spPr>
          <a:xfrm>
            <a:off x="2006600" y="4229100"/>
            <a:ext cx="304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95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5367F44-E281-BB6A-5C81-6A59160B8350}"/>
              </a:ext>
            </a:extLst>
          </p:cNvPr>
          <p:cNvSpPr/>
          <p:nvPr/>
        </p:nvSpPr>
        <p:spPr>
          <a:xfrm>
            <a:off x="3016250" y="3549650"/>
            <a:ext cx="317500" cy="317500"/>
          </a:xfrm>
          <a:prstGeom prst="ellipse">
            <a:avLst/>
          </a:prstGeom>
          <a:solidFill>
            <a:srgbClr val="5F8AA8">
              <a:alpha val="82000"/>
            </a:srgbClr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5A07D1C-B128-CB0A-F5D5-6492AEDC5CA8}"/>
              </a:ext>
            </a:extLst>
          </p:cNvPr>
          <p:cNvSpPr txBox="1"/>
          <p:nvPr/>
        </p:nvSpPr>
        <p:spPr>
          <a:xfrm>
            <a:off x="3022600" y="3619500"/>
            <a:ext cx="304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95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4B5070BE-1688-C4A6-B921-AC5602ED9C81}"/>
              </a:ext>
            </a:extLst>
          </p:cNvPr>
          <p:cNvSpPr/>
          <p:nvPr/>
        </p:nvSpPr>
        <p:spPr>
          <a:xfrm>
            <a:off x="4127500" y="2984500"/>
            <a:ext cx="431800" cy="431800"/>
          </a:xfrm>
          <a:prstGeom prst="ellipse">
            <a:avLst/>
          </a:prstGeom>
          <a:solidFill>
            <a:srgbClr val="D8A546">
              <a:alpha val="82000"/>
            </a:srgbClr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45DB8FC-D6BD-1E07-C48E-DDD1E50ABE27}"/>
              </a:ext>
            </a:extLst>
          </p:cNvPr>
          <p:cNvSpPr txBox="1"/>
          <p:nvPr/>
        </p:nvSpPr>
        <p:spPr>
          <a:xfrm>
            <a:off x="4191000" y="3111500"/>
            <a:ext cx="304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</a:t>
            </a:r>
            <a:endParaRPr lang="zh-CN" altLang="en-US" sz="95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4CA402ED-8AEC-B3DC-4BAB-CAB4CA10867D}"/>
              </a:ext>
            </a:extLst>
          </p:cNvPr>
          <p:cNvSpPr/>
          <p:nvPr/>
        </p:nvSpPr>
        <p:spPr>
          <a:xfrm>
            <a:off x="5511800" y="2590800"/>
            <a:ext cx="558800" cy="558800"/>
          </a:xfrm>
          <a:prstGeom prst="ellipse">
            <a:avLst/>
          </a:prstGeom>
          <a:solidFill>
            <a:srgbClr val="024282">
              <a:alpha val="82000"/>
            </a:srgbClr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C6F170-FF1D-A89A-1859-B9EB499C975C}"/>
              </a:ext>
            </a:extLst>
          </p:cNvPr>
          <p:cNvSpPr txBox="1"/>
          <p:nvPr/>
        </p:nvSpPr>
        <p:spPr>
          <a:xfrm>
            <a:off x="5638800" y="2781300"/>
            <a:ext cx="304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</a:t>
            </a:r>
            <a:endParaRPr lang="zh-CN" altLang="en-US" sz="95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35A4896F-D733-248B-1C45-C181FFB7E5EC}"/>
              </a:ext>
            </a:extLst>
          </p:cNvPr>
          <p:cNvSpPr/>
          <p:nvPr/>
        </p:nvSpPr>
        <p:spPr>
          <a:xfrm>
            <a:off x="6800850" y="2432050"/>
            <a:ext cx="368300" cy="368300"/>
          </a:xfrm>
          <a:prstGeom prst="ellipse">
            <a:avLst/>
          </a:prstGeom>
          <a:solidFill>
            <a:srgbClr val="2D7A5D">
              <a:alpha val="82000"/>
            </a:srgbClr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C40B1CB-502D-7B2A-8EE4-35C02F4C9352}"/>
              </a:ext>
            </a:extLst>
          </p:cNvPr>
          <p:cNvSpPr txBox="1"/>
          <p:nvPr/>
        </p:nvSpPr>
        <p:spPr>
          <a:xfrm>
            <a:off x="6832600" y="2527300"/>
            <a:ext cx="304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</a:t>
            </a:r>
            <a:endParaRPr lang="zh-CN" altLang="en-US" sz="950" b="1">
              <a:solidFill>
                <a:srgbClr val="FFFFF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9F30688-BAA0-7860-FAFF-FBB610772043}"/>
              </a:ext>
            </a:extLst>
          </p:cNvPr>
          <p:cNvCxnSpPr/>
          <p:nvPr/>
        </p:nvCxnSpPr>
        <p:spPr>
          <a:xfrm flipV="1">
            <a:off x="3175000" y="3200400"/>
            <a:ext cx="1168400" cy="508000"/>
          </a:xfrm>
          <a:prstGeom prst="line">
            <a:avLst/>
          </a:prstGeom>
          <a:ln w="19050">
            <a:solidFill>
              <a:srgbClr val="123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0500ECA-C6B6-A53B-5C9A-180B7F7C2942}"/>
              </a:ext>
            </a:extLst>
          </p:cNvPr>
          <p:cNvCxnSpPr/>
          <p:nvPr/>
        </p:nvCxnSpPr>
        <p:spPr>
          <a:xfrm flipV="1">
            <a:off x="4343400" y="2870200"/>
            <a:ext cx="1447800" cy="330200"/>
          </a:xfrm>
          <a:prstGeom prst="line">
            <a:avLst/>
          </a:prstGeom>
          <a:ln w="19050">
            <a:solidFill>
              <a:srgbClr val="123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6C8246B-48D3-6CE6-F076-23382E00A519}"/>
              </a:ext>
            </a:extLst>
          </p:cNvPr>
          <p:cNvCxnSpPr/>
          <p:nvPr/>
        </p:nvCxnSpPr>
        <p:spPr>
          <a:xfrm flipV="1">
            <a:off x="5791200" y="2616200"/>
            <a:ext cx="1193800" cy="254000"/>
          </a:xfrm>
          <a:prstGeom prst="line">
            <a:avLst/>
          </a:prstGeom>
          <a:ln w="19050">
            <a:solidFill>
              <a:srgbClr val="123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40806A0A-F46F-9150-C01B-46B6684B8CC2}"/>
              </a:ext>
            </a:extLst>
          </p:cNvPr>
          <p:cNvSpPr txBox="1"/>
          <p:nvPr/>
        </p:nvSpPr>
        <p:spPr>
          <a:xfrm>
            <a:off x="5943600" y="2413000"/>
            <a:ext cx="1397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00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Pareto front</a:t>
            </a:r>
            <a:endParaRPr lang="zh-CN" altLang="en-US" sz="100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6E949E5-DBD7-ACAE-A887-95AB29C6E7D8}"/>
              </a:ext>
            </a:extLst>
          </p:cNvPr>
          <p:cNvSpPr/>
          <p:nvPr/>
        </p:nvSpPr>
        <p:spPr>
          <a:xfrm>
            <a:off x="8839200" y="1473200"/>
            <a:ext cx="2743200" cy="36830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24AAC544-B18E-C01D-0A3D-D37687953E44}"/>
              </a:ext>
            </a:extLst>
          </p:cNvPr>
          <p:cNvSpPr/>
          <p:nvPr/>
        </p:nvSpPr>
        <p:spPr>
          <a:xfrm>
            <a:off x="9093200" y="1727200"/>
            <a:ext cx="1041400" cy="254000"/>
          </a:xfrm>
          <a:prstGeom prst="roundRect">
            <a:avLst/>
          </a:prstGeom>
          <a:solidFill>
            <a:srgbClr val="D8A54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69F1515-9D60-C568-C968-3EA83B25A66D}"/>
              </a:ext>
            </a:extLst>
          </p:cNvPr>
          <p:cNvSpPr txBox="1"/>
          <p:nvPr/>
        </p:nvSpPr>
        <p:spPr>
          <a:xfrm>
            <a:off x="9131300" y="1810308"/>
            <a:ext cx="965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050" b="1">
                <a:solidFill>
                  <a:srgbClr val="123B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RESOURCE</a:t>
            </a:r>
            <a:endParaRPr lang="zh-CN" altLang="en-US" sz="1050" b="1">
              <a:solidFill>
                <a:srgbClr val="123B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E52824E-9715-4DCC-610C-55A33F773B25}"/>
              </a:ext>
            </a:extLst>
          </p:cNvPr>
          <p:cNvSpPr txBox="1"/>
          <p:nvPr/>
        </p:nvSpPr>
        <p:spPr>
          <a:xfrm>
            <a:off x="9093200" y="2336800"/>
            <a:ext cx="2235200" cy="131831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参数量：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M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峰值显存：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GB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训练能耗：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kWh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推理时延：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ms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吞吐量：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/s</a:t>
            </a:r>
          </a:p>
          <a:p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硬件：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endParaRPr lang="zh-CN" altLang="en-US" sz="14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A736BA9-E70A-1540-0EF9-A82788FBA68A}"/>
              </a:ext>
            </a:extLst>
          </p:cNvPr>
          <p:cNvSpPr txBox="1"/>
          <p:nvPr/>
        </p:nvSpPr>
        <p:spPr>
          <a:xfrm>
            <a:off x="9093200" y="4648200"/>
            <a:ext cx="2235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10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推荐：满足约束的 </a:t>
            </a:r>
            <a:r>
              <a:rPr lang="en-US" altLang="zh-CN" sz="110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Pareto </a:t>
            </a:r>
            <a:r>
              <a:rPr lang="zh-CN" altLang="en-US" sz="110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2E1B05E-42BB-145F-418A-539CAACA1AFA}"/>
              </a:ext>
            </a:extLst>
          </p:cNvPr>
          <p:cNvSpPr txBox="1"/>
          <p:nvPr/>
        </p:nvSpPr>
        <p:spPr>
          <a:xfrm>
            <a:off x="609600" y="5689600"/>
            <a:ext cx="7874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示例数据；气泡面积映射参数量，不以半径线性映射。</a:t>
            </a:r>
          </a:p>
        </p:txBody>
      </p:sp>
    </p:spTree>
    <p:extLst>
      <p:ext uri="{BB962C8B-B14F-4D97-AF65-F5344CB8AC3E}">
        <p14:creationId xmlns:p14="http://schemas.microsoft.com/office/powerpoint/2010/main" val="103509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项目路线图与协作治理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224946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ROADMAP &amp; GOVERNANCE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4644499D-6222-15B3-90F6-4CAD35C18469}"/>
              </a:ext>
            </a:extLst>
          </p:cNvPr>
          <p:cNvSpPr txBox="1"/>
          <p:nvPr/>
        </p:nvSpPr>
        <p:spPr>
          <a:xfrm>
            <a:off x="609600" y="1422400"/>
            <a:ext cx="10972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任务、周期、依赖与里程碑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6F20D9B-7184-E618-3FA3-82B802B19CF6}"/>
              </a:ext>
            </a:extLst>
          </p:cNvPr>
          <p:cNvCxnSpPr/>
          <p:nvPr/>
        </p:nvCxnSpPr>
        <p:spPr>
          <a:xfrm>
            <a:off x="609600" y="1739900"/>
            <a:ext cx="109728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FB35304-26B3-3D10-E808-80D6AE533016}"/>
              </a:ext>
            </a:extLst>
          </p:cNvPr>
          <p:cNvSpPr txBox="1"/>
          <p:nvPr/>
        </p:nvSpPr>
        <p:spPr>
          <a:xfrm>
            <a:off x="3937000" y="1905000"/>
            <a:ext cx="889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W1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D54A2B3-4C9D-C4E9-9435-34540DAFE86B}"/>
              </a:ext>
            </a:extLst>
          </p:cNvPr>
          <p:cNvSpPr txBox="1"/>
          <p:nvPr/>
        </p:nvSpPr>
        <p:spPr>
          <a:xfrm>
            <a:off x="4876800" y="1905000"/>
            <a:ext cx="889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W2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9C25779-60EC-B818-280D-7A861E5C85DC}"/>
              </a:ext>
            </a:extLst>
          </p:cNvPr>
          <p:cNvSpPr txBox="1"/>
          <p:nvPr/>
        </p:nvSpPr>
        <p:spPr>
          <a:xfrm>
            <a:off x="5816600" y="1905000"/>
            <a:ext cx="889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W3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0728D0A-8FF7-85E6-C192-8C04D1076EC8}"/>
              </a:ext>
            </a:extLst>
          </p:cNvPr>
          <p:cNvSpPr txBox="1"/>
          <p:nvPr/>
        </p:nvSpPr>
        <p:spPr>
          <a:xfrm>
            <a:off x="6756400" y="1905000"/>
            <a:ext cx="889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W4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F3FB72D-B870-3D81-9340-2EAC6719F424}"/>
              </a:ext>
            </a:extLst>
          </p:cNvPr>
          <p:cNvSpPr txBox="1"/>
          <p:nvPr/>
        </p:nvSpPr>
        <p:spPr>
          <a:xfrm>
            <a:off x="7696200" y="1905000"/>
            <a:ext cx="889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W5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F36E7DF-25E3-D154-407C-C0143E7C9519}"/>
              </a:ext>
            </a:extLst>
          </p:cNvPr>
          <p:cNvSpPr txBox="1"/>
          <p:nvPr/>
        </p:nvSpPr>
        <p:spPr>
          <a:xfrm>
            <a:off x="8636000" y="1905000"/>
            <a:ext cx="889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W6</a:t>
            </a:r>
            <a:endParaRPr lang="zh-CN" altLang="en-US" sz="1000" b="1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6026437-8B73-D620-F7C7-41AD23FA4904}"/>
              </a:ext>
            </a:extLst>
          </p:cNvPr>
          <p:cNvSpPr txBox="1"/>
          <p:nvPr/>
        </p:nvSpPr>
        <p:spPr>
          <a:xfrm>
            <a:off x="609600" y="2336800"/>
            <a:ext cx="1600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问题定义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61DFFE7-7C09-A28D-EB7D-44C2767C7F8C}"/>
              </a:ext>
            </a:extLst>
          </p:cNvPr>
          <p:cNvSpPr txBox="1"/>
          <p:nvPr/>
        </p:nvSpPr>
        <p:spPr>
          <a:xfrm>
            <a:off x="2286000" y="2336800"/>
            <a:ext cx="12192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9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OWNER A</a:t>
            </a:r>
            <a:endParaRPr lang="zh-CN" altLang="en-US" sz="95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1E51E1-F740-049E-D96B-CBE741AB4A5C}"/>
              </a:ext>
            </a:extLst>
          </p:cNvPr>
          <p:cNvSpPr/>
          <p:nvPr/>
        </p:nvSpPr>
        <p:spPr>
          <a:xfrm>
            <a:off x="3937000" y="22987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FDF170E-491D-A01C-9BB6-9DC7FF190FD5}"/>
              </a:ext>
            </a:extLst>
          </p:cNvPr>
          <p:cNvSpPr/>
          <p:nvPr/>
        </p:nvSpPr>
        <p:spPr>
          <a:xfrm>
            <a:off x="4876800" y="22987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4E134BE-383F-7FF6-74FC-0C52749C9A5B}"/>
              </a:ext>
            </a:extLst>
          </p:cNvPr>
          <p:cNvSpPr/>
          <p:nvPr/>
        </p:nvSpPr>
        <p:spPr>
          <a:xfrm>
            <a:off x="5816600" y="22987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CA7A209-0EA6-30FB-6E03-EC4BE7A6C366}"/>
              </a:ext>
            </a:extLst>
          </p:cNvPr>
          <p:cNvSpPr/>
          <p:nvPr/>
        </p:nvSpPr>
        <p:spPr>
          <a:xfrm>
            <a:off x="6756400" y="22987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603A3D8-31D8-1A10-EE4F-F77F1F9C3DE5}"/>
              </a:ext>
            </a:extLst>
          </p:cNvPr>
          <p:cNvSpPr/>
          <p:nvPr/>
        </p:nvSpPr>
        <p:spPr>
          <a:xfrm>
            <a:off x="7696200" y="22987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F6B796F-A626-69BD-886B-280CA79F2FCA}"/>
              </a:ext>
            </a:extLst>
          </p:cNvPr>
          <p:cNvSpPr/>
          <p:nvPr/>
        </p:nvSpPr>
        <p:spPr>
          <a:xfrm>
            <a:off x="8636000" y="22987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BB251B9-4DE5-7C73-529D-F4D3CEFDEA49}"/>
              </a:ext>
            </a:extLst>
          </p:cNvPr>
          <p:cNvSpPr/>
          <p:nvPr/>
        </p:nvSpPr>
        <p:spPr>
          <a:xfrm>
            <a:off x="3937000" y="2298700"/>
            <a:ext cx="1803400" cy="254000"/>
          </a:xfrm>
          <a:prstGeom prst="rect">
            <a:avLst/>
          </a:prstGeom>
          <a:solidFill>
            <a:srgbClr val="2D7A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8C71867-4B91-7917-0062-3802A5505F76}"/>
              </a:ext>
            </a:extLst>
          </p:cNvPr>
          <p:cNvSpPr txBox="1"/>
          <p:nvPr/>
        </p:nvSpPr>
        <p:spPr>
          <a:xfrm>
            <a:off x="9855200" y="2336800"/>
            <a:ext cx="990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950" b="1">
                <a:solidFill>
                  <a:srgbClr val="2D7A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115B18E-333D-086C-804B-E5C352FB6860}"/>
              </a:ext>
            </a:extLst>
          </p:cNvPr>
          <p:cNvSpPr txBox="1"/>
          <p:nvPr/>
        </p:nvSpPr>
        <p:spPr>
          <a:xfrm>
            <a:off x="609600" y="2870200"/>
            <a:ext cx="1600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2924AB9-5F44-259E-F77C-A8028EBEC7F8}"/>
              </a:ext>
            </a:extLst>
          </p:cNvPr>
          <p:cNvSpPr txBox="1"/>
          <p:nvPr/>
        </p:nvSpPr>
        <p:spPr>
          <a:xfrm>
            <a:off x="2286000" y="2870200"/>
            <a:ext cx="12192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9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OWNER B</a:t>
            </a:r>
            <a:endParaRPr lang="zh-CN" altLang="en-US" sz="95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FD793C-1419-5E88-87B9-826707677F4A}"/>
              </a:ext>
            </a:extLst>
          </p:cNvPr>
          <p:cNvSpPr/>
          <p:nvPr/>
        </p:nvSpPr>
        <p:spPr>
          <a:xfrm>
            <a:off x="3937000" y="28321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5C3D326-E782-AC0C-5FA5-F4D35DE48521}"/>
              </a:ext>
            </a:extLst>
          </p:cNvPr>
          <p:cNvSpPr/>
          <p:nvPr/>
        </p:nvSpPr>
        <p:spPr>
          <a:xfrm>
            <a:off x="4876800" y="28321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A43FAE2-3E47-2BDC-FD5C-947FD1045314}"/>
              </a:ext>
            </a:extLst>
          </p:cNvPr>
          <p:cNvSpPr/>
          <p:nvPr/>
        </p:nvSpPr>
        <p:spPr>
          <a:xfrm>
            <a:off x="5816600" y="28321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BE28F45-3982-B010-69FC-34616DEA0B76}"/>
              </a:ext>
            </a:extLst>
          </p:cNvPr>
          <p:cNvSpPr/>
          <p:nvPr/>
        </p:nvSpPr>
        <p:spPr>
          <a:xfrm>
            <a:off x="6756400" y="28321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1F3B11E-D028-FDFB-4EEF-AA6CE40BAF7C}"/>
              </a:ext>
            </a:extLst>
          </p:cNvPr>
          <p:cNvSpPr/>
          <p:nvPr/>
        </p:nvSpPr>
        <p:spPr>
          <a:xfrm>
            <a:off x="7696200" y="28321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C4C05B0-2C84-4CE7-A000-872070A869CA}"/>
              </a:ext>
            </a:extLst>
          </p:cNvPr>
          <p:cNvSpPr/>
          <p:nvPr/>
        </p:nvSpPr>
        <p:spPr>
          <a:xfrm>
            <a:off x="8636000" y="28321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81700B3-B817-3F8F-9C73-4AAB590E78EF}"/>
              </a:ext>
            </a:extLst>
          </p:cNvPr>
          <p:cNvSpPr/>
          <p:nvPr/>
        </p:nvSpPr>
        <p:spPr>
          <a:xfrm>
            <a:off x="4876800" y="2832100"/>
            <a:ext cx="1803400" cy="254000"/>
          </a:xfrm>
          <a:prstGeom prst="rect">
            <a:avLst/>
          </a:prstGeom>
          <a:solidFill>
            <a:srgbClr val="D8A54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914EA4B-79E3-B02F-5E83-354352192B80}"/>
              </a:ext>
            </a:extLst>
          </p:cNvPr>
          <p:cNvSpPr txBox="1"/>
          <p:nvPr/>
        </p:nvSpPr>
        <p:spPr>
          <a:xfrm>
            <a:off x="9855200" y="2870200"/>
            <a:ext cx="990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95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进行中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AAE367C-0BCF-7825-B18F-F2EDBF9DCB9F}"/>
              </a:ext>
            </a:extLst>
          </p:cNvPr>
          <p:cNvSpPr txBox="1"/>
          <p:nvPr/>
        </p:nvSpPr>
        <p:spPr>
          <a:xfrm>
            <a:off x="609600" y="3403600"/>
            <a:ext cx="1600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方法实现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8C47E3D-C98B-0D6B-A4E2-F30D472206DF}"/>
              </a:ext>
            </a:extLst>
          </p:cNvPr>
          <p:cNvSpPr txBox="1"/>
          <p:nvPr/>
        </p:nvSpPr>
        <p:spPr>
          <a:xfrm>
            <a:off x="2286000" y="3403600"/>
            <a:ext cx="12192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9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OWNER C</a:t>
            </a:r>
            <a:endParaRPr lang="zh-CN" altLang="en-US" sz="95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EF59411-7419-E23A-BD29-B7C876350682}"/>
              </a:ext>
            </a:extLst>
          </p:cNvPr>
          <p:cNvSpPr/>
          <p:nvPr/>
        </p:nvSpPr>
        <p:spPr>
          <a:xfrm>
            <a:off x="3937000" y="33655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24422E6-4B4B-51E5-BA43-7D475C951ACA}"/>
              </a:ext>
            </a:extLst>
          </p:cNvPr>
          <p:cNvSpPr/>
          <p:nvPr/>
        </p:nvSpPr>
        <p:spPr>
          <a:xfrm>
            <a:off x="4876800" y="33655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39E39D1-4E66-EE82-F35E-91E37ACFD40C}"/>
              </a:ext>
            </a:extLst>
          </p:cNvPr>
          <p:cNvSpPr/>
          <p:nvPr/>
        </p:nvSpPr>
        <p:spPr>
          <a:xfrm>
            <a:off x="5816600" y="33655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E1F119B-0D54-2306-9A53-599AB960D840}"/>
              </a:ext>
            </a:extLst>
          </p:cNvPr>
          <p:cNvSpPr/>
          <p:nvPr/>
        </p:nvSpPr>
        <p:spPr>
          <a:xfrm>
            <a:off x="6756400" y="33655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F03EE9C-4F48-2E65-A0D1-0B5FDA1B93D6}"/>
              </a:ext>
            </a:extLst>
          </p:cNvPr>
          <p:cNvSpPr/>
          <p:nvPr/>
        </p:nvSpPr>
        <p:spPr>
          <a:xfrm>
            <a:off x="7696200" y="33655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BD319AB-7CE1-C18A-E972-B6D94E0D19EA}"/>
              </a:ext>
            </a:extLst>
          </p:cNvPr>
          <p:cNvSpPr/>
          <p:nvPr/>
        </p:nvSpPr>
        <p:spPr>
          <a:xfrm>
            <a:off x="8636000" y="33655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554ADE9-24D2-2CB7-DA3C-3069C608B359}"/>
              </a:ext>
            </a:extLst>
          </p:cNvPr>
          <p:cNvSpPr/>
          <p:nvPr/>
        </p:nvSpPr>
        <p:spPr>
          <a:xfrm>
            <a:off x="5816600" y="3365500"/>
            <a:ext cx="2743200" cy="254000"/>
          </a:xfrm>
          <a:prstGeom prst="rect">
            <a:avLst/>
          </a:prstGeom>
          <a:solidFill>
            <a:srgbClr val="D8A54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9CA0CC7-773A-A921-6F6F-037418BDA482}"/>
              </a:ext>
            </a:extLst>
          </p:cNvPr>
          <p:cNvSpPr txBox="1"/>
          <p:nvPr/>
        </p:nvSpPr>
        <p:spPr>
          <a:xfrm>
            <a:off x="9855200" y="3403600"/>
            <a:ext cx="990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950" b="1">
                <a:solidFill>
                  <a:srgbClr val="D8A5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进行中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322FB87-B50C-6F9E-99BA-96031DE15031}"/>
              </a:ext>
            </a:extLst>
          </p:cNvPr>
          <p:cNvSpPr txBox="1"/>
          <p:nvPr/>
        </p:nvSpPr>
        <p:spPr>
          <a:xfrm>
            <a:off x="609600" y="3937000"/>
            <a:ext cx="1600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实验评估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5CE0EB8-CB94-4EC3-F1E4-B4C42B8A7AC4}"/>
              </a:ext>
            </a:extLst>
          </p:cNvPr>
          <p:cNvSpPr txBox="1"/>
          <p:nvPr/>
        </p:nvSpPr>
        <p:spPr>
          <a:xfrm>
            <a:off x="2286000" y="3937000"/>
            <a:ext cx="12192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9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OWNER A</a:t>
            </a:r>
            <a:endParaRPr lang="zh-CN" altLang="en-US" sz="95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4E96218-30B5-F576-EDA9-2531930E5763}"/>
              </a:ext>
            </a:extLst>
          </p:cNvPr>
          <p:cNvSpPr/>
          <p:nvPr/>
        </p:nvSpPr>
        <p:spPr>
          <a:xfrm>
            <a:off x="3937000" y="38989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12FAC24-803C-E3A3-837D-25C707B7C6E2}"/>
              </a:ext>
            </a:extLst>
          </p:cNvPr>
          <p:cNvSpPr/>
          <p:nvPr/>
        </p:nvSpPr>
        <p:spPr>
          <a:xfrm>
            <a:off x="4876800" y="38989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8475795-43AF-F99D-4B09-645D2209FB20}"/>
              </a:ext>
            </a:extLst>
          </p:cNvPr>
          <p:cNvSpPr/>
          <p:nvPr/>
        </p:nvSpPr>
        <p:spPr>
          <a:xfrm>
            <a:off x="5816600" y="38989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E5EF97A-1C63-C44D-1A41-BAA3D9F079F8}"/>
              </a:ext>
            </a:extLst>
          </p:cNvPr>
          <p:cNvSpPr/>
          <p:nvPr/>
        </p:nvSpPr>
        <p:spPr>
          <a:xfrm>
            <a:off x="6756400" y="38989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F5A1DD0-6D2A-7033-F690-F36C153031AC}"/>
              </a:ext>
            </a:extLst>
          </p:cNvPr>
          <p:cNvSpPr/>
          <p:nvPr/>
        </p:nvSpPr>
        <p:spPr>
          <a:xfrm>
            <a:off x="7696200" y="38989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26EEF2F-9B92-9BAB-6210-5319391A3AEB}"/>
              </a:ext>
            </a:extLst>
          </p:cNvPr>
          <p:cNvSpPr/>
          <p:nvPr/>
        </p:nvSpPr>
        <p:spPr>
          <a:xfrm>
            <a:off x="8636000" y="38989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AFD0123-865D-5635-9AD9-4080AF29E5BC}"/>
              </a:ext>
            </a:extLst>
          </p:cNvPr>
          <p:cNvSpPr/>
          <p:nvPr/>
        </p:nvSpPr>
        <p:spPr>
          <a:xfrm>
            <a:off x="6756400" y="3898900"/>
            <a:ext cx="2743200" cy="2540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192B4ED-F62B-487A-A245-EDB1921D1851}"/>
              </a:ext>
            </a:extLst>
          </p:cNvPr>
          <p:cNvSpPr txBox="1"/>
          <p:nvPr/>
        </p:nvSpPr>
        <p:spPr>
          <a:xfrm>
            <a:off x="9855200" y="3937000"/>
            <a:ext cx="990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950" b="1">
                <a:solidFill>
                  <a:srgbClr val="5F8A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待开始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A5D7716-7F27-D48E-5184-17C1FEABDCAF}"/>
              </a:ext>
            </a:extLst>
          </p:cNvPr>
          <p:cNvSpPr txBox="1"/>
          <p:nvPr/>
        </p:nvSpPr>
        <p:spPr>
          <a:xfrm>
            <a:off x="609600" y="4470400"/>
            <a:ext cx="1600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 </a:t>
            </a:r>
            <a:r>
              <a:rPr lang="en-US" altLang="zh-CN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1721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772CF1-FC1B-46DD-CB16-E299B8FB1CBC}"/>
              </a:ext>
            </a:extLst>
          </p:cNvPr>
          <p:cNvSpPr txBox="1"/>
          <p:nvPr/>
        </p:nvSpPr>
        <p:spPr>
          <a:xfrm>
            <a:off x="2286000" y="4470400"/>
            <a:ext cx="12192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9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OWNER D</a:t>
            </a:r>
            <a:endParaRPr lang="zh-CN" altLang="en-US" sz="950">
              <a:solidFill>
                <a:srgbClr val="7A879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DA8D942-23D4-81FA-BDF0-72302749E3E9}"/>
              </a:ext>
            </a:extLst>
          </p:cNvPr>
          <p:cNvSpPr/>
          <p:nvPr/>
        </p:nvSpPr>
        <p:spPr>
          <a:xfrm>
            <a:off x="3937000" y="44323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E32BB63-E2C8-E94E-B783-F8AE70CB76C2}"/>
              </a:ext>
            </a:extLst>
          </p:cNvPr>
          <p:cNvSpPr/>
          <p:nvPr/>
        </p:nvSpPr>
        <p:spPr>
          <a:xfrm>
            <a:off x="4876800" y="44323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E784959-E1A8-6E18-BB0E-BFB647072EE9}"/>
              </a:ext>
            </a:extLst>
          </p:cNvPr>
          <p:cNvSpPr/>
          <p:nvPr/>
        </p:nvSpPr>
        <p:spPr>
          <a:xfrm>
            <a:off x="5816600" y="44323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26B140C-87AE-4944-4547-5EC5BD25EC71}"/>
              </a:ext>
            </a:extLst>
          </p:cNvPr>
          <p:cNvSpPr/>
          <p:nvPr/>
        </p:nvSpPr>
        <p:spPr>
          <a:xfrm>
            <a:off x="6756400" y="44323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0B17AE5-7D09-B42D-3AB4-29E3795C4ED7}"/>
              </a:ext>
            </a:extLst>
          </p:cNvPr>
          <p:cNvSpPr/>
          <p:nvPr/>
        </p:nvSpPr>
        <p:spPr>
          <a:xfrm>
            <a:off x="7696200" y="44323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B5CC409-F26E-3352-5628-ACBC9B7DDC44}"/>
              </a:ext>
            </a:extLst>
          </p:cNvPr>
          <p:cNvSpPr/>
          <p:nvPr/>
        </p:nvSpPr>
        <p:spPr>
          <a:xfrm>
            <a:off x="8636000" y="4432300"/>
            <a:ext cx="863600" cy="254000"/>
          </a:xfrm>
          <a:prstGeom prst="rect">
            <a:avLst/>
          </a:prstGeom>
          <a:solidFill>
            <a:srgbClr val="F7F8FA"/>
          </a:solidFill>
          <a:ln w="6350">
            <a:solidFill>
              <a:srgbClr val="DF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93BB08E-9B8D-E828-9DC7-FC31F47C8E7E}"/>
              </a:ext>
            </a:extLst>
          </p:cNvPr>
          <p:cNvSpPr/>
          <p:nvPr/>
        </p:nvSpPr>
        <p:spPr>
          <a:xfrm>
            <a:off x="7696200" y="4432300"/>
            <a:ext cx="1803400" cy="254000"/>
          </a:xfrm>
          <a:prstGeom prst="rect">
            <a:avLst/>
          </a:prstGeom>
          <a:solidFill>
            <a:srgbClr val="5F8AA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B1FAF48-D093-64C0-60E9-5C89518942AF}"/>
              </a:ext>
            </a:extLst>
          </p:cNvPr>
          <p:cNvSpPr txBox="1"/>
          <p:nvPr/>
        </p:nvSpPr>
        <p:spPr>
          <a:xfrm>
            <a:off x="9855200" y="4470400"/>
            <a:ext cx="990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950" b="1">
                <a:solidFill>
                  <a:srgbClr val="5F8A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待开始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B28BE447-CF15-D104-A5E2-7C2588474E02}"/>
              </a:ext>
            </a:extLst>
          </p:cNvPr>
          <p:cNvCxnSpPr/>
          <p:nvPr/>
        </p:nvCxnSpPr>
        <p:spPr>
          <a:xfrm>
            <a:off x="6286500" y="2209800"/>
            <a:ext cx="0" cy="2768600"/>
          </a:xfrm>
          <a:prstGeom prst="line">
            <a:avLst/>
          </a:prstGeom>
          <a:ln w="15240">
            <a:solidFill>
              <a:srgbClr val="A64A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4BEC25C-A45F-CAEB-828C-A06F4A606E71}"/>
              </a:ext>
            </a:extLst>
          </p:cNvPr>
          <p:cNvSpPr txBox="1"/>
          <p:nvPr/>
        </p:nvSpPr>
        <p:spPr>
          <a:xfrm>
            <a:off x="6032500" y="5029200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950" b="1">
                <a:solidFill>
                  <a:srgbClr val="A64A4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AA8C81E-A74B-54B4-907B-EAC50B4D5D56}"/>
              </a:ext>
            </a:extLst>
          </p:cNvPr>
          <p:cNvSpPr/>
          <p:nvPr/>
        </p:nvSpPr>
        <p:spPr>
          <a:xfrm>
            <a:off x="609600" y="5410200"/>
            <a:ext cx="10972800" cy="5080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74EA776-0294-7A57-A78A-B0BC75962C69}"/>
              </a:ext>
            </a:extLst>
          </p:cNvPr>
          <p:cNvSpPr txBox="1"/>
          <p:nvPr/>
        </p:nvSpPr>
        <p:spPr>
          <a:xfrm>
            <a:off x="787400" y="5549900"/>
            <a:ext cx="10617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治理条  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下次检查点：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____-__-__   </a:t>
            </a:r>
            <a:r>
              <a:rPr lang="zh-CN" altLang="en-US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变更记录：</a:t>
            </a:r>
            <a:r>
              <a:rPr lang="en-US" altLang="zh-CN" sz="105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endParaRPr lang="zh-CN" altLang="en-US" sz="1050">
              <a:solidFill>
                <a:srgbClr val="5361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78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1238250"/>
            <a:chOff x="0" y="0"/>
            <a:chExt cx="12192000" cy="123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23825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6998" y="36480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部署、交付与可复现性</a:t>
              </a:r>
              <a:endParaRPr lang="zh-CN" sz="3150" b="1" dirty="0">
                <a:solidFill>
                  <a:srgbClr val="123B5D"/>
                </a:solidFill>
                <a:latin typeface="Georgia"/>
                <a:ea typeface="SimSun"/>
                <a:cs typeface="Georgi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04" y="870585"/>
              <a:ext cx="383104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75">
                  <a:solidFill>
                    <a:srgbClr val="7A8792"/>
                  </a:solidFill>
                  <a:latin typeface="Arial"/>
                  <a:ea typeface="Arial"/>
                  <a:cs typeface="Arial"/>
                </a:rPr>
                <a:t>DEPLOYMENT, DELIVERY &amp; REPRODUCIBILITY</a:t>
              </a:r>
              <a:endParaRPr lang="en-US" sz="1200" spc="75" dirty="0">
                <a:solidFill>
                  <a:srgbClr val="7A8792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39" name="图片 38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E399778C-9AA0-C816-EA8A-34B3DA75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4A93112C-BB83-F7FF-8FBE-3F9E44CFC4BD}"/>
              </a:ext>
            </a:extLst>
          </p:cNvPr>
          <p:cNvSpPr txBox="1"/>
          <p:nvPr/>
        </p:nvSpPr>
        <p:spPr>
          <a:xfrm>
            <a:off x="609600" y="1422400"/>
            <a:ext cx="73152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客户端与服务端的关键交互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44BB443-E8BC-CD25-9C9E-12E1F6B11CEA}"/>
              </a:ext>
            </a:extLst>
          </p:cNvPr>
          <p:cNvCxnSpPr/>
          <p:nvPr/>
        </p:nvCxnSpPr>
        <p:spPr>
          <a:xfrm>
            <a:off x="609600" y="1739900"/>
            <a:ext cx="7315200" cy="0"/>
          </a:xfrm>
          <a:prstGeom prst="line">
            <a:avLst/>
          </a:prstGeom>
          <a:ln w="10160">
            <a:solidFill>
              <a:srgbClr val="CBD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CEBAA265-14C7-1A3F-3B3E-92657795EF7A}"/>
              </a:ext>
            </a:extLst>
          </p:cNvPr>
          <p:cNvSpPr/>
          <p:nvPr/>
        </p:nvSpPr>
        <p:spPr>
          <a:xfrm>
            <a:off x="609600" y="2108200"/>
            <a:ext cx="2286000" cy="193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C745D61-C222-B2B7-51A8-34FDBF688790}"/>
              </a:ext>
            </a:extLst>
          </p:cNvPr>
          <p:cNvSpPr txBox="1"/>
          <p:nvPr/>
        </p:nvSpPr>
        <p:spPr>
          <a:xfrm>
            <a:off x="863600" y="2336800"/>
            <a:ext cx="177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客户端 </a:t>
            </a:r>
            <a:r>
              <a:rPr lang="en-US" altLang="zh-CN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使用者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D845A60-CEA6-A166-227F-228C4C1E56DF}"/>
              </a:ext>
            </a:extLst>
          </p:cNvPr>
          <p:cNvSpPr txBox="1"/>
          <p:nvPr/>
        </p:nvSpPr>
        <p:spPr>
          <a:xfrm>
            <a:off x="863600" y="2870200"/>
            <a:ext cx="1778000" cy="57964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上传</a:t>
            </a:r>
          </a:p>
          <a:p>
            <a:pPr algn="ctr"/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 </a:t>
            </a:r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反馈</a:t>
            </a:r>
          </a:p>
          <a:p>
            <a:pPr algn="ctr"/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导出 </a:t>
            </a:r>
            <a:r>
              <a:rPr lang="en-US" altLang="zh-CN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复核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273BC22-64D6-EFBF-A367-3F9A27C73AE2}"/>
              </a:ext>
            </a:extLst>
          </p:cNvPr>
          <p:cNvSpPr/>
          <p:nvPr/>
        </p:nvSpPr>
        <p:spPr>
          <a:xfrm>
            <a:off x="5638800" y="2108200"/>
            <a:ext cx="2286000" cy="1930400"/>
          </a:xfrm>
          <a:prstGeom prst="rect">
            <a:avLst/>
          </a:prstGeom>
          <a:solidFill>
            <a:srgbClr val="123B5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F2E75D7-3FAF-0B29-D756-2F72475CF338}"/>
              </a:ext>
            </a:extLst>
          </p:cNvPr>
          <p:cNvSpPr txBox="1"/>
          <p:nvPr/>
        </p:nvSpPr>
        <p:spPr>
          <a:xfrm>
            <a:off x="5892800" y="2336800"/>
            <a:ext cx="177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服务端 </a:t>
            </a:r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01B1234-AEE9-A4E8-F134-5BE2728D92D7}"/>
              </a:ext>
            </a:extLst>
          </p:cNvPr>
          <p:cNvSpPr txBox="1"/>
          <p:nvPr/>
        </p:nvSpPr>
        <p:spPr>
          <a:xfrm>
            <a:off x="5892800" y="2870200"/>
            <a:ext cx="1778000" cy="57964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</a:t>
            </a: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缓存</a:t>
            </a:r>
          </a:p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回滚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D8D2A04-D495-A290-0961-9A973EA89E09}"/>
              </a:ext>
            </a:extLst>
          </p:cNvPr>
          <p:cNvCxnSpPr/>
          <p:nvPr/>
        </p:nvCxnSpPr>
        <p:spPr>
          <a:xfrm>
            <a:off x="2895600" y="2692400"/>
            <a:ext cx="2743200" cy="0"/>
          </a:xfrm>
          <a:prstGeom prst="line">
            <a:avLst/>
          </a:prstGeom>
          <a:ln w="25400">
            <a:solidFill>
              <a:srgbClr val="D8A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9D1199B-754E-0DA9-4590-58DD54216153}"/>
              </a:ext>
            </a:extLst>
          </p:cNvPr>
          <p:cNvCxnSpPr/>
          <p:nvPr/>
        </p:nvCxnSpPr>
        <p:spPr>
          <a:xfrm flipH="1">
            <a:off x="2895600" y="3429000"/>
            <a:ext cx="2743200" cy="0"/>
          </a:xfrm>
          <a:prstGeom prst="line">
            <a:avLst/>
          </a:prstGeom>
          <a:ln w="25400">
            <a:solidFill>
              <a:srgbClr val="5F8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A81ED45-DC09-3DD9-15C8-861C18A64364}"/>
              </a:ext>
            </a:extLst>
          </p:cNvPr>
          <p:cNvSpPr txBox="1"/>
          <p:nvPr/>
        </p:nvSpPr>
        <p:spPr>
          <a:xfrm>
            <a:off x="3429000" y="2413000"/>
            <a:ext cx="1676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request / upload</a:t>
            </a:r>
            <a:endParaRPr lang="zh-CN" altLang="en-US" sz="10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45B84C9-36D5-408E-9D13-96992BB8D517}"/>
              </a:ext>
            </a:extLst>
          </p:cNvPr>
          <p:cNvSpPr txBox="1"/>
          <p:nvPr/>
        </p:nvSpPr>
        <p:spPr>
          <a:xfrm>
            <a:off x="3429000" y="3505200"/>
            <a:ext cx="1676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rgbClr val="5361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response / push</a:t>
            </a:r>
            <a:endParaRPr lang="zh-CN" altLang="en-US" sz="1000" b="1">
              <a:solidFill>
                <a:srgbClr val="5361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2B8BAA9-EFE4-A330-A2BF-44CBBA9EE285}"/>
              </a:ext>
            </a:extLst>
          </p:cNvPr>
          <p:cNvSpPr/>
          <p:nvPr/>
        </p:nvSpPr>
        <p:spPr>
          <a:xfrm>
            <a:off x="609600" y="4419600"/>
            <a:ext cx="7315200" cy="1295400"/>
          </a:xfrm>
          <a:prstGeom prst="rect">
            <a:avLst/>
          </a:prstGeom>
          <a:solidFill>
            <a:srgbClr val="EEF2F6"/>
          </a:solidFill>
          <a:ln w="8890">
            <a:solidFill>
              <a:srgbClr val="CB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CFEEAEA-C0CE-4813-5197-F263DFD05389}"/>
              </a:ext>
            </a:extLst>
          </p:cNvPr>
          <p:cNvSpPr txBox="1"/>
          <p:nvPr/>
        </p:nvSpPr>
        <p:spPr>
          <a:xfrm>
            <a:off x="838200" y="4648200"/>
            <a:ext cx="1143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200" b="1">
                <a:solidFill>
                  <a:srgbClr val="123B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交付产物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F930D61-8088-81DC-EE4D-BF0E0F75481A}"/>
              </a:ext>
            </a:extLst>
          </p:cNvPr>
          <p:cNvSpPr txBox="1"/>
          <p:nvPr/>
        </p:nvSpPr>
        <p:spPr>
          <a:xfrm>
            <a:off x="838200" y="5054600"/>
            <a:ext cx="6807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源码与版本   □ 环境锁文件   □ 数据说明   □ 权重 </a:t>
            </a:r>
            <a:r>
              <a:rPr lang="en-US" altLang="zh-CN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   □ 日志与评价脚本   □ 模型卡 </a:t>
            </a:r>
            <a:r>
              <a:rPr lang="en-US" altLang="zh-CN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风险说明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DC001D2-366F-F40F-F704-08CDBFD14FA7}"/>
              </a:ext>
            </a:extLst>
          </p:cNvPr>
          <p:cNvSpPr/>
          <p:nvPr/>
        </p:nvSpPr>
        <p:spPr>
          <a:xfrm>
            <a:off x="8534400" y="2108200"/>
            <a:ext cx="3048000" cy="3048000"/>
          </a:xfrm>
          <a:prstGeom prst="rect">
            <a:avLst/>
          </a:prstGeom>
          <a:solidFill>
            <a:srgbClr val="F7F8FA"/>
          </a:solidFill>
          <a:ln w="15240">
            <a:solidFill>
              <a:srgbClr val="7A87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37BCF71-47F6-6914-6D16-538F39EC9B2B}"/>
              </a:ext>
            </a:extLst>
          </p:cNvPr>
          <p:cNvSpPr txBox="1"/>
          <p:nvPr/>
        </p:nvSpPr>
        <p:spPr>
          <a:xfrm>
            <a:off x="8686800" y="3401283"/>
            <a:ext cx="27432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zh-CN" sz="1500" b="1">
                <a:solidFill>
                  <a:srgbClr val="5361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QR / Repository / Demo</a:t>
            </a:r>
            <a:endParaRPr lang="zh-CN" altLang="en-US" sz="1500" b="1">
              <a:solidFill>
                <a:srgbClr val="5361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9233957-E3F4-55B7-394C-4ED291FF1D4A}"/>
              </a:ext>
            </a:extLst>
          </p:cNvPr>
          <p:cNvSpPr txBox="1"/>
          <p:nvPr/>
        </p:nvSpPr>
        <p:spPr>
          <a:xfrm>
            <a:off x="8686800" y="3766108"/>
            <a:ext cx="27432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建议比例 </a:t>
            </a:r>
            <a:r>
              <a:rPr lang="en-US" altLang="zh-CN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1:1 · </a:t>
            </a:r>
            <a:r>
              <a:rPr lang="zh-CN" altLang="en-US" sz="1050">
                <a:solidFill>
                  <a:srgbClr val="7A879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双击替换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57C4F36-1711-6BA7-B2BE-8EC92D0CBAFB}"/>
              </a:ext>
            </a:extLst>
          </p:cNvPr>
          <p:cNvSpPr txBox="1"/>
          <p:nvPr/>
        </p:nvSpPr>
        <p:spPr>
          <a:xfrm>
            <a:off x="8534400" y="5359400"/>
            <a:ext cx="304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zh-CN" altLang="en-US" sz="1050">
                <a:solidFill>
                  <a:srgbClr val="7A87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替换为真实仓库、演示或补充材料链接</a:t>
            </a:r>
          </a:p>
        </p:txBody>
      </p:sp>
    </p:spTree>
    <p:extLst>
      <p:ext uri="{BB962C8B-B14F-4D97-AF65-F5344CB8AC3E}">
        <p14:creationId xmlns:p14="http://schemas.microsoft.com/office/powerpoint/2010/main" val="304923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00150" y="1676400"/>
            <a:ext cx="9525" cy="3924300"/>
            <a:chOff x="1200150" y="1676400"/>
            <a:chExt cx="9525" cy="3924300"/>
          </a:xfrm>
        </p:grpSpPr>
        <p:sp>
          <p:nvSpPr>
            <p:cNvPr id="2" name="Line 2"/>
            <p:cNvSpPr/>
            <p:nvPr/>
          </p:nvSpPr>
          <p:spPr>
            <a:xfrm>
              <a:off x="1200150" y="1676400"/>
              <a:ext cx="9525" cy="3924300"/>
            </a:xfrm>
            <a:custGeom>
              <a:avLst/>
              <a:gdLst/>
              <a:ahLst/>
              <a:cxnLst/>
              <a:rect l="l" t="t" r="r" b="b"/>
              <a:pathLst>
                <a:path w="9525" h="3924300">
                  <a:moveTo>
                    <a:pt x="0" y="0"/>
                  </a:moveTo>
                  <a:lnTo>
                    <a:pt x="0" y="3924300"/>
                  </a:lnTo>
                </a:path>
              </a:pathLst>
            </a:custGeom>
            <a:noFill/>
            <a:ln w="28575">
              <a:solidFill>
                <a:srgbClr val="5F8AA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14400" y="1619250"/>
            <a:ext cx="10668000" cy="1104900"/>
            <a:chOff x="914400" y="1619250"/>
            <a:chExt cx="10668000" cy="1104900"/>
          </a:xfrm>
        </p:grpSpPr>
        <p:sp>
          <p:nvSpPr>
            <p:cNvPr id="4" name="Ellipse 4"/>
            <p:cNvSpPr/>
            <p:nvPr/>
          </p:nvSpPr>
          <p:spPr>
            <a:xfrm>
              <a:off x="914400" y="1828800"/>
              <a:ext cx="571500" cy="571500"/>
            </a:xfrm>
            <a:prstGeom prst="ellipse">
              <a:avLst/>
            </a:prstGeom>
            <a:solidFill>
              <a:srgbClr val="2D7A5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9315" y="20288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752600" y="1619250"/>
              <a:ext cx="9829800" cy="1104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752600" y="1619250"/>
              <a:ext cx="76200" cy="1104900"/>
            </a:xfrm>
            <a:prstGeom prst="rect">
              <a:avLst/>
            </a:prstGeom>
            <a:solidFill>
              <a:srgbClr val="2D7A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84832" y="1811655"/>
              <a:ext cx="31768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结论 / What we know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6356" y="22250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写入一个由主要结果直接支持的核心结论。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64746" y="2060258"/>
              <a:ext cx="290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150" b="1" dirty="0">
                  <a:solidFill>
                    <a:srgbClr val="2D7A5D"/>
                  </a:solidFill>
                  <a:latin typeface="Georgia"/>
                  <a:ea typeface="Georgia"/>
                  <a:cs typeface="Georgia"/>
                </a:rPr>
                <a:t>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219450"/>
            <a:ext cx="10668000" cy="1104900"/>
            <a:chOff x="914400" y="3219450"/>
            <a:chExt cx="10668000" cy="1104900"/>
          </a:xfrm>
        </p:grpSpPr>
        <p:sp>
          <p:nvSpPr>
            <p:cNvPr id="12" name="Ellipse 12"/>
            <p:cNvSpPr/>
            <p:nvPr/>
          </p:nvSpPr>
          <p:spPr>
            <a:xfrm>
              <a:off x="914400" y="3429000"/>
              <a:ext cx="571500" cy="571500"/>
            </a:xfrm>
            <a:prstGeom prst="ellipse">
              <a:avLst/>
            </a:prstGeom>
            <a:solidFill>
              <a:srgbClr val="A64A4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9315" y="36290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52600" y="3219450"/>
              <a:ext cx="9829800" cy="1104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DE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752600" y="3219450"/>
              <a:ext cx="76200" cy="1104900"/>
            </a:xfrm>
            <a:prstGeom prst="rect">
              <a:avLst/>
            </a:prstGeom>
            <a:solidFill>
              <a:srgbClr val="A64A4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84832" y="3411855"/>
              <a:ext cx="46653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12B"/>
                  </a:solidFill>
                  <a:latin typeface="Georgia"/>
                  <a:ea typeface="SimSun"/>
                  <a:cs typeface="Georgia"/>
                </a:rPr>
                <a:t>局限 / What remains uncertain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6356" y="38252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3616D"/>
                  </a:solidFill>
                  <a:latin typeface="Arial"/>
                  <a:ea typeface="Microsoft YaHei"/>
                  <a:cs typeface="Arial"/>
                </a:rPr>
                <a:t>明确适用边界、未控制变量或当前证据不足之处。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82360" y="3660458"/>
              <a:ext cx="1731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150" b="1" dirty="0">
                  <a:solidFill>
                    <a:srgbClr val="A64A45"/>
                  </a:solidFill>
                  <a:latin typeface="Georgia"/>
                  <a:ea typeface="Georgia"/>
                  <a:cs typeface="Georgia"/>
                </a:rPr>
                <a:t>!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" y="4819650"/>
            <a:ext cx="10668000" cy="1104900"/>
            <a:chOff x="914400" y="4819650"/>
            <a:chExt cx="10668000" cy="1104900"/>
          </a:xfrm>
        </p:grpSpPr>
        <p:sp>
          <p:nvSpPr>
            <p:cNvPr id="20" name="Ellipse 20"/>
            <p:cNvSpPr/>
            <p:nvPr/>
          </p:nvSpPr>
          <p:spPr>
            <a:xfrm>
              <a:off x="914400" y="5029200"/>
              <a:ext cx="571500" cy="571500"/>
            </a:xfrm>
            <a:prstGeom prst="ellipse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9315" y="52292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23B5D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52600" y="4819650"/>
              <a:ext cx="9829800" cy="110490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752600" y="4819650"/>
              <a:ext cx="76200" cy="1104900"/>
            </a:xfrm>
            <a:prstGeom prst="rect">
              <a:avLst/>
            </a:prstGeom>
            <a:solidFill>
              <a:srgbClr val="D8A54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084832" y="5012055"/>
              <a:ext cx="38681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下一步 / What we do next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6356" y="54254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FE5EA"/>
                  </a:solidFill>
                  <a:latin typeface="Arial"/>
                  <a:ea typeface="Microsoft YaHei"/>
                  <a:cs typeface="Arial"/>
                </a:rPr>
                <a:t>给出负责人、验证动作与可检查的完成标准。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64746" y="5260658"/>
              <a:ext cx="290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150" b="1" dirty="0">
                  <a:solidFill>
                    <a:srgbClr val="D8A546"/>
                  </a:solidFill>
                  <a:latin typeface="Georgia"/>
                  <a:ea typeface="Georgia"/>
                  <a:cs typeface="Georgia"/>
                </a:rPr>
                <a:t>→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0"/>
            <a:ext cx="12192000" cy="1295400"/>
            <a:chOff x="0" y="0"/>
            <a:chExt cx="12192000" cy="1295400"/>
          </a:xfrm>
        </p:grpSpPr>
        <p:sp>
          <p:nvSpPr>
            <p:cNvPr id="31" name="Rectangle 31"/>
            <p:cNvSpPr/>
            <p:nvPr/>
          </p:nvSpPr>
          <p:spPr>
            <a:xfrm>
              <a:off x="0" y="0"/>
              <a:ext cx="12192000" cy="12954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552450" y="40005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24282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28650" y="457200"/>
              <a:ext cx="361950" cy="323850"/>
            </a:xfrm>
            <a:custGeom>
              <a:avLst/>
              <a:gdLst/>
              <a:ahLst/>
              <a:cxnLst/>
              <a:rect l="l" t="t" r="r" b="b"/>
              <a:pathLst>
                <a:path w="361950" h="323850">
                  <a:moveTo>
                    <a:pt x="57150" y="0"/>
                  </a:moveTo>
                  <a:lnTo>
                    <a:pt x="361950" y="0"/>
                  </a:lnTo>
                  <a:lnTo>
                    <a:pt x="30480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7F8FA"/>
            </a:solidFill>
            <a:ln w="19050">
              <a:solidFill>
                <a:srgbClr val="02428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26998" y="3648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3B5D"/>
                  </a:solidFill>
                  <a:latin typeface="Georgia"/>
                  <a:ea typeface="SimSun"/>
                  <a:cs typeface="Georgia"/>
                </a:rPr>
                <a:t>结论、局限与下一步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6904" y="870585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792"/>
                  </a:solidFill>
                  <a:latin typeface="Arial"/>
                  <a:ea typeface="Microsoft YaHei"/>
                  <a:cs typeface="Arial"/>
                </a:rPr>
                <a:t>用三句话完成研究收束：知道了什么、还不知道什么、接下来做什么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5450" y="285750"/>
              <a:ext cx="514350" cy="514350"/>
            </a:xfrm>
            <a:prstGeom prst="rect">
              <a:avLst/>
            </a:prstGeom>
          </p:spPr>
        </p:pic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3150" y="371475"/>
              <a:ext cx="1543050" cy="533400"/>
            </a:xfrm>
            <a:prstGeom prst="rect">
              <a:avLst/>
            </a:prstGeom>
          </p:spPr>
        </p:pic>
        <p:sp>
          <p:nvSpPr>
            <p:cNvPr id="38" name="Line 38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E"/>
              </a:solidFill>
            </a:ln>
          </p:spPr>
        </p:sp>
      </p:grpSp>
      <p:pic>
        <p:nvPicPr>
          <p:cNvPr id="41" name="图片 40" descr="图片包含 游戏机, 灯光&#10;&#10;AI 生成的内容可能不正确。">
            <a:extLst>
              <a:ext uri="{FF2B5EF4-FFF2-40B4-BE49-F238E27FC236}">
                <a16:creationId xmlns:a16="http://schemas.microsoft.com/office/drawing/2014/main" id="{79940F41-56CF-C30D-667E-C2AED85B80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239096"/>
            <a:ext cx="2936400" cy="56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23B5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85800" y="685800"/>
              <a:ext cx="10820400" cy="5486400"/>
            </a:xfrm>
            <a:prstGeom prst="rect">
              <a:avLst/>
            </a:prstGeom>
            <a:noFill/>
            <a:ln w="9525">
              <a:solidFill>
                <a:srgbClr val="5F8AA8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590265" y="885825"/>
            <a:ext cx="1393469" cy="3162300"/>
            <a:chOff x="9590265" y="885825"/>
            <a:chExt cx="1393469" cy="3162300"/>
          </a:xfrm>
        </p:grpSpPr>
        <p:sp>
          <p:nvSpPr>
            <p:cNvPr id="5" name="TextBox 5"/>
            <p:cNvSpPr txBox="1"/>
            <p:nvPr/>
          </p:nvSpPr>
          <p:spPr>
            <a:xfrm>
              <a:off x="9590265" y="885825"/>
              <a:ext cx="1393469" cy="3162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0" b="1" dirty="0">
                  <a:solidFill>
                    <a:srgbClr val="D8A546"/>
                  </a:solidFill>
                  <a:latin typeface="Georgia"/>
                  <a:ea typeface="Georgia"/>
                  <a:cs typeface="Georgia"/>
                </a:rPr>
                <a:t>?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2102168"/>
            <a:ext cx="7672070" cy="1937194"/>
            <a:chOff x="1047750" y="2102168"/>
            <a:chExt cx="7672070" cy="1937194"/>
          </a:xfrm>
        </p:grpSpPr>
        <p:sp>
          <p:nvSpPr>
            <p:cNvPr id="7" name="TextBox 7"/>
            <p:cNvSpPr txBox="1"/>
            <p:nvPr/>
          </p:nvSpPr>
          <p:spPr>
            <a:xfrm>
              <a:off x="1059942" y="2102168"/>
              <a:ext cx="1350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D8A546"/>
                  </a:solidFill>
                  <a:latin typeface="Arial"/>
                  <a:ea typeface="Arial"/>
                  <a:cs typeface="Arial"/>
                </a:rPr>
                <a:t>DISCUSSION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7750" y="2526030"/>
              <a:ext cx="610029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讨论 · 下一步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4608" y="3569970"/>
              <a:ext cx="76652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i="1" dirty="0">
                  <a:solidFill>
                    <a:srgbClr val="DFE5EA"/>
                  </a:solidFill>
                  <a:latin typeface="Georgia"/>
                  <a:ea typeface="Georgia"/>
                  <a:cs typeface="Georgia"/>
                </a:rPr>
                <a:t>Questions, comments, and critical feedback.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7656" y="4476750"/>
            <a:ext cx="6733794" cy="956501"/>
            <a:chOff x="1057656" y="4476750"/>
            <a:chExt cx="6733794" cy="956501"/>
          </a:xfrm>
        </p:grpSpPr>
        <p:sp>
          <p:nvSpPr>
            <p:cNvPr id="11" name="Line 11"/>
            <p:cNvSpPr/>
            <p:nvPr/>
          </p:nvSpPr>
          <p:spPr>
            <a:xfrm>
              <a:off x="1066800" y="4476750"/>
              <a:ext cx="6724650" cy="9525"/>
            </a:xfrm>
            <a:custGeom>
              <a:avLst/>
              <a:gdLst/>
              <a:ahLst/>
              <a:cxnLst/>
              <a:rect l="l" t="t" r="r" b="b"/>
              <a:pathLst>
                <a:path w="6724650" h="9525">
                  <a:moveTo>
                    <a:pt x="0" y="0"/>
                  </a:moveTo>
                  <a:lnTo>
                    <a:pt x="6724650" y="0"/>
                  </a:lnTo>
                </a:path>
              </a:pathLst>
            </a:custGeom>
            <a:noFill/>
            <a:ln w="9525">
              <a:solidFill>
                <a:srgbClr val="5F8AA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4720590"/>
              <a:ext cx="5942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最希望讨论：研究假设 / 方法边界 / 实验设计 / 下一步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942" y="5169218"/>
              <a:ext cx="4137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DE"/>
                  </a:solidFill>
                  <a:latin typeface="Arial"/>
                  <a:ea typeface="Microsoft YaHei"/>
                  <a:cs typeface="Arial"/>
                </a:rPr>
                <a:t>汇报人 · email@example.com · Lab / Institution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66800" y="838200"/>
            <a:ext cx="10058400" cy="752475"/>
            <a:chOff x="1066800" y="838200"/>
            <a:chExt cx="10058400" cy="752475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0" y="838200"/>
              <a:ext cx="514350" cy="514350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3550" y="916940"/>
              <a:ext cx="1524000" cy="528320"/>
            </a:xfrm>
            <a:prstGeom prst="rect">
              <a:avLst/>
            </a:prstGeom>
          </p:spPr>
        </p:pic>
        <p:sp>
          <p:nvSpPr>
            <p:cNvPr id="20" name="Line 20"/>
            <p:cNvSpPr/>
            <p:nvPr/>
          </p:nvSpPr>
          <p:spPr>
            <a:xfrm>
              <a:off x="1066800" y="15811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rgbClr val="5F8AA8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5060</Words>
  <Application>Microsoft Office PowerPoint</Application>
  <PresentationFormat>宽屏</PresentationFormat>
  <Paragraphs>652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cursive</vt:lpstr>
      <vt:lpstr>Microsoft YaHei</vt:lpstr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Join Ming</cp:lastModifiedBy>
  <cp:revision>7</cp:revision>
  <dcterms:created xsi:type="dcterms:W3CDTF">2026-07-23T01:00:35Z</dcterms:created>
  <dcterms:modified xsi:type="dcterms:W3CDTF">2026-08-07T08:52:42Z</dcterms:modified>
  <cp:category/>
  <cp:contentStatus/>
  <dc:language/>
</cp:coreProperties>
</file>